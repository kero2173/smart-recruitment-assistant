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7" r:id="rId12"/>
    <p:sldId id="269" r:id="rId13"/>
    <p:sldId id="268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AAED4"/>
    <a:srgbClr val="4F81BD"/>
    <a:srgbClr val="7095C0"/>
    <a:srgbClr val="FFFFFF"/>
    <a:srgbClr val="D6E2F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0000000-0000-0000-0000-000000000000}" v="1248" dt="2026-09-08T18:31:50.989"/>
    <p1510:client id="{27C42F77-B9D4-3E27-9EF8-B04839042113}" v="392" dt="2026-09-08T17:26:16.22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737569" y="1146340"/>
            <a:ext cx="8716027" cy="1138773"/>
          </a:xfrm>
          <a:prstGeom prst="rect">
            <a:avLst/>
          </a:prstGeom>
          <a:noFill/>
          <a:ln>
            <a:solidFill>
              <a:srgbClr val="4472C4"/>
            </a:solidFill>
          </a:ln>
        </p:spPr>
        <p:txBody>
          <a:bodyPr wrap="square" lIns="91440" tIns="45720" rIns="91440" bIns="45720" anchor="t">
            <a:spAutoFit/>
          </a:bodyPr>
          <a:lstStyle/>
          <a:p>
            <a:pPr algn="ctr">
              <a:defRPr sz="3400" b="1">
                <a:solidFill>
                  <a:srgbClr val="14233C"/>
                </a:solidFill>
                <a:latin typeface="Aptos"/>
              </a:defRPr>
            </a:pPr>
            <a:r>
              <a:rPr dirty="0">
                <a:highlight>
                  <a:srgbClr val="D6E2F0"/>
                </a:highlight>
              </a:rPr>
              <a:t>Smart Recruitment</a:t>
            </a:r>
            <a:br>
              <a:rPr dirty="0">
                <a:highlight>
                  <a:srgbClr val="D6E2F0"/>
                </a:highlight>
              </a:rPr>
            </a:br>
            <a:r>
              <a:rPr dirty="0">
                <a:highlight>
                  <a:srgbClr val="D6E2F0"/>
                </a:highlight>
              </a:rPr>
              <a:t>Assistant</a:t>
            </a:r>
            <a:r>
              <a:rPr lang="en-US" dirty="0">
                <a:highlight>
                  <a:srgbClr val="D6E2F0"/>
                </a:highlight>
              </a:rPr>
              <a:t> Project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D7BF4AE-D63B-E16C-F31D-841431179368}"/>
              </a:ext>
            </a:extLst>
          </p:cNvPr>
          <p:cNvSpPr txBox="1"/>
          <p:nvPr/>
        </p:nvSpPr>
        <p:spPr>
          <a:xfrm>
            <a:off x="1738463" y="2802426"/>
            <a:ext cx="2743199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highlight>
                  <a:srgbClr val="4F81BD"/>
                </a:highlight>
                <a:ea typeface="Calibri"/>
                <a:cs typeface="Calibri"/>
              </a:rPr>
              <a:t>Team members:</a:t>
            </a:r>
          </a:p>
        </p:txBody>
      </p:sp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D0572B19-ECA9-3F9B-BE07-C390EDF5351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05579999"/>
              </p:ext>
            </p:extLst>
          </p:nvPr>
        </p:nvGraphicFramePr>
        <p:xfrm>
          <a:off x="4224612" y="2799609"/>
          <a:ext cx="5337764" cy="29667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9182">
                  <a:extLst>
                    <a:ext uri="{9D8B030D-6E8A-4147-A177-3AD203B41FA5}">
                      <a16:colId xmlns:a16="http://schemas.microsoft.com/office/drawing/2014/main" val="1591194812"/>
                    </a:ext>
                  </a:extLst>
                </a:gridCol>
                <a:gridCol w="4788582">
                  <a:extLst>
                    <a:ext uri="{9D8B030D-6E8A-4147-A177-3AD203B41FA5}">
                      <a16:colId xmlns:a16="http://schemas.microsoft.com/office/drawing/2014/main" val="186238179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NAME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586233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Kerolos Nagih (Team leader)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541019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Shnoda Faik Botros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304848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Kyrillos Mamdouh</a:t>
                      </a:r>
                      <a:endParaRPr lang="en-US" b="1" dirty="0" err="1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885376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Merna </a:t>
                      </a:r>
                      <a:r>
                        <a:rPr lang="en-US" b="1" dirty="0" err="1"/>
                        <a:t>Shokralla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784478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Nouran Hisham Mokhtar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125890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Basmala Mohamed Hassan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38041081"/>
                  </a:ext>
                </a:extLst>
              </a:tr>
              <a:tr h="370839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dirty="0"/>
                        <a:t>7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b="1" dirty="0"/>
                        <a:t>Nourhan Soliman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118796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0584" cy="6858000"/>
          </a:xfrm>
          <a:prstGeom prst="rect">
            <a:avLst/>
          </a:prstGeom>
          <a:solidFill>
            <a:srgbClr val="2A69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62280" y="4066032"/>
            <a:ext cx="10515600" cy="50783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defRPr sz="2700" b="1">
                <a:solidFill>
                  <a:srgbClr val="14233C"/>
                </a:solidFill>
                <a:latin typeface="Aptos"/>
              </a:defRPr>
            </a:pPr>
            <a:r>
              <a:rPr lang="en-US" dirty="0"/>
              <a:t> </a:t>
            </a:r>
            <a:r>
              <a:rPr dirty="0"/>
              <a:t>Problem Definition</a:t>
            </a:r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10881360" y="6355080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97584"/>
                </a:solidFill>
                <a:latin typeface="Aptos"/>
              </a:defRPr>
            </a:pPr>
            <a:r>
              <a:t>02 / 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4790440"/>
            <a:ext cx="3474720" cy="1554480"/>
          </a:xfrm>
          <a:prstGeom prst="roundRect">
            <a:avLst/>
          </a:prstGeom>
          <a:solidFill>
            <a:srgbClr val="F7F9FC"/>
          </a:solidFill>
          <a:ln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4883912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4233C"/>
                </a:solidFill>
                <a:latin typeface="Aptos"/>
              </a:defRPr>
            </a:pPr>
            <a:r>
              <a:t>Recruitment Challenge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5398007"/>
            <a:ext cx="3108960" cy="8412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80" b="0">
                <a:solidFill>
                  <a:srgbClr val="26303E"/>
                </a:solidFill>
                <a:latin typeface="Aptos"/>
              </a:defRPr>
            </a:pPr>
            <a:r>
              <a:t>Large candidate pools make manual screening repetitive, time-consuming, and difficult to scale consistently.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26280" y="4780280"/>
            <a:ext cx="3474720" cy="1554480"/>
          </a:xfrm>
          <a:prstGeom prst="roundRect">
            <a:avLst/>
          </a:prstGeom>
          <a:solidFill>
            <a:srgbClr val="F7F9FC"/>
          </a:solidFill>
          <a:ln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709160" y="4883912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4233C"/>
                </a:solidFill>
                <a:latin typeface="Aptos"/>
              </a:defRPr>
            </a:pPr>
            <a:r>
              <a:t>Project Objective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09160" y="5194807"/>
            <a:ext cx="3108960" cy="8412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80" b="0">
                <a:solidFill>
                  <a:srgbClr val="26303E"/>
                </a:solidFill>
                <a:latin typeface="Aptos"/>
              </a:defRPr>
            </a:pPr>
            <a:r>
              <a:t>Predict whether a candidate belongs to the job-change class using available profile, career, company, and training information.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65160" y="4790440"/>
            <a:ext cx="3474720" cy="1554480"/>
          </a:xfrm>
          <a:prstGeom prst="roundRect">
            <a:avLst/>
          </a:prstGeom>
          <a:solidFill>
            <a:srgbClr val="F7F9FC"/>
          </a:solidFill>
          <a:ln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508999" y="4883912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4233C"/>
                </a:solidFill>
                <a:latin typeface="Aptos"/>
              </a:defRPr>
            </a:pPr>
            <a:r>
              <a:t>Decision Support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8999" y="5194807"/>
            <a:ext cx="3108960" cy="8412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80" b="0">
                <a:solidFill>
                  <a:srgbClr val="26303E"/>
                </a:solidFill>
                <a:latin typeface="Aptos"/>
              </a:defRPr>
            </a:pPr>
            <a:r>
              <a:t>Provide HR with an additional data-driven signal for prioritization during the first screening stage.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D503DF5-D4BA-0D8D-A572-AE9CB372A641}"/>
              </a:ext>
            </a:extLst>
          </p:cNvPr>
          <p:cNvSpPr txBox="1"/>
          <p:nvPr/>
        </p:nvSpPr>
        <p:spPr>
          <a:xfrm>
            <a:off x="464382" y="197622"/>
            <a:ext cx="11145520" cy="384720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 b="1" dirty="0"/>
              <a:t>1.project description </a:t>
            </a:r>
            <a:endParaRPr lang="en-US" sz="2800" b="1" dirty="0">
              <a:ea typeface="Calibri"/>
              <a:cs typeface="Calibri"/>
            </a:endParaRPr>
          </a:p>
          <a:p>
            <a:r>
              <a:rPr lang="en-US" dirty="0">
                <a:ea typeface="+mn-lt"/>
                <a:cs typeface="+mn-lt"/>
              </a:rPr>
              <a:t>Smart Recruitment Assistant Industry Background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Modern organizations receive hundreds of applications for each vacancy. Human Resources departments increasingly use AI systems to support recruitment decisions and identify suitable candidates more efficiently.</a:t>
            </a:r>
          </a:p>
          <a:p>
            <a:endParaRPr lang="en-US"/>
          </a:p>
          <a:p>
            <a:r>
              <a:rPr lang="en-US" dirty="0">
                <a:ea typeface="+mn-lt"/>
                <a:cs typeface="+mn-lt"/>
              </a:rPr>
              <a:t>Project Objective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Develop an intelligent recruitment screening system that predicts whether a candidate should advance to the next stage of the hiring process.</a:t>
            </a:r>
            <a:endParaRPr lang="en-US" dirty="0"/>
          </a:p>
          <a:p>
            <a:endParaRPr lang="en-US"/>
          </a:p>
          <a:p>
            <a:r>
              <a:rPr lang="en-US" dirty="0">
                <a:ea typeface="+mn-lt"/>
                <a:cs typeface="+mn-lt"/>
              </a:rPr>
              <a:t>Recommended Dataset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Primary Dataset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HR Analytics: Job Change of Data Scientists Dataset</a:t>
            </a:r>
            <a:endParaRPr lang="en-US" dirty="0"/>
          </a:p>
          <a:p>
            <a:pPr algn="l"/>
            <a:endParaRPr lang="en-US" dirty="0"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0584" cy="6858000"/>
          </a:xfrm>
          <a:prstGeom prst="rect">
            <a:avLst/>
          </a:prstGeom>
          <a:solidFill>
            <a:srgbClr val="2A69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347472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4233C"/>
                </a:solidFill>
                <a:latin typeface="Aptos"/>
              </a:defRPr>
            </a:pPr>
            <a:r>
              <a:t>2. Dataset &amp; Target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355080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97584"/>
                </a:solidFill>
                <a:latin typeface="Aptos"/>
              </a:defRPr>
            </a:pPr>
            <a:r>
              <a:t>03 / 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325880"/>
            <a:ext cx="2240280" cy="1143000"/>
          </a:xfrm>
          <a:prstGeom prst="roundRect">
            <a:avLst/>
          </a:prstGeom>
          <a:solidFill>
            <a:srgbClr val="F7F9FC"/>
          </a:solidFill>
          <a:ln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" y="1508760"/>
            <a:ext cx="2240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14233C"/>
                </a:solidFill>
                <a:latin typeface="Aptos"/>
              </a:defRPr>
            </a:pPr>
            <a:r>
              <a:t>19,158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011680"/>
            <a:ext cx="2240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97584"/>
                </a:solidFill>
                <a:latin typeface="Aptos"/>
              </a:defRPr>
            </a:pPr>
            <a:r>
              <a:t>records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46120" y="1325880"/>
            <a:ext cx="2240280" cy="1143000"/>
          </a:xfrm>
          <a:prstGeom prst="roundRect">
            <a:avLst/>
          </a:prstGeom>
          <a:solidFill>
            <a:srgbClr val="F7F9FC"/>
          </a:solidFill>
          <a:ln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246120" y="1508760"/>
            <a:ext cx="2240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14233C"/>
                </a:solidFill>
                <a:latin typeface="Aptos"/>
              </a:defRPr>
            </a:pPr>
            <a:r>
              <a:t>14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46120" y="2011680"/>
            <a:ext cx="2240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97584"/>
                </a:solidFill>
                <a:latin typeface="Aptos"/>
              </a:defRPr>
            </a:pPr>
            <a:r>
              <a:t>original columns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852160" y="1325880"/>
            <a:ext cx="2240280" cy="1143000"/>
          </a:xfrm>
          <a:prstGeom prst="roundRect">
            <a:avLst/>
          </a:prstGeom>
          <a:solidFill>
            <a:srgbClr val="F7F9FC"/>
          </a:solidFill>
          <a:ln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852160" y="1508760"/>
            <a:ext cx="2240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14233C"/>
                </a:solidFill>
                <a:latin typeface="Aptos"/>
              </a:defRPr>
            </a:pPr>
            <a:r>
              <a:t>75.07%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52160" y="2011680"/>
            <a:ext cx="2240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97584"/>
                </a:solidFill>
                <a:latin typeface="Aptos"/>
              </a:defRPr>
            </a:pPr>
            <a:r>
              <a:t>target = 0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458200" y="1325880"/>
            <a:ext cx="2240280" cy="1143000"/>
          </a:xfrm>
          <a:prstGeom prst="roundRect">
            <a:avLst/>
          </a:prstGeom>
          <a:solidFill>
            <a:srgbClr val="E8F1FA"/>
          </a:solidFill>
          <a:ln>
            <a:solidFill>
              <a:srgbClr val="2A69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458200" y="1508760"/>
            <a:ext cx="2240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14233C"/>
                </a:solidFill>
                <a:latin typeface="Aptos"/>
              </a:defRPr>
            </a:pPr>
            <a:r>
              <a:t>24.93%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58200" y="2011680"/>
            <a:ext cx="2240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97584"/>
                </a:solidFill>
                <a:latin typeface="Aptos"/>
              </a:defRPr>
            </a:pPr>
            <a:r>
              <a:t>target = 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27889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A69AF"/>
                </a:solidFill>
                <a:latin typeface="Aptos"/>
              </a:defRPr>
            </a:pPr>
            <a:r>
              <a:t>FEATURE GROUPS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3127248"/>
            <a:ext cx="493776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0">
                <a:solidFill>
                  <a:srgbClr val="26303E"/>
                </a:solidFill>
                <a:latin typeface="Aptos"/>
              </a:defRPr>
            </a:pPr>
            <a:r>
              <a:t>• Location: city, city development index</a:t>
            </a:r>
            <a:br/>
            <a:r>
              <a:t>• Profile: gender, education, major discipline</a:t>
            </a:r>
            <a:br/>
            <a:r>
              <a:t>• Career: relevant experience, experience, last new job</a:t>
            </a:r>
            <a:br/>
            <a:r>
              <a:t>• Organization: company size, company type</a:t>
            </a:r>
            <a:br/>
            <a:r>
              <a:t>• Training: training hours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80760" y="27889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A69AF"/>
                </a:solidFill>
                <a:latin typeface="Aptos"/>
              </a:defRPr>
            </a:pPr>
            <a:r>
              <a:t>TARGET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80760" y="3154680"/>
            <a:ext cx="4937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14233C"/>
                </a:solidFill>
                <a:latin typeface="Aptos"/>
              </a:defRPr>
            </a:pPr>
            <a:r>
              <a:t>0 = not looking for a job change</a:t>
            </a:r>
            <a:br/>
            <a:r>
              <a:t>1 = looking for a job change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80760" y="4251960"/>
            <a:ext cx="47548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0">
                <a:solidFill>
                  <a:srgbClr val="26303E"/>
                </a:solidFill>
                <a:latin typeface="Aptos"/>
              </a:defRPr>
            </a:pPr>
            <a:r>
              <a:t>The target is imbalanced: 14,381 observations are class 0 and 4,777 are class 1. This makes Recall and F1 important evaluation measures.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0584" cy="6858000"/>
          </a:xfrm>
          <a:prstGeom prst="rect">
            <a:avLst/>
          </a:prstGeom>
          <a:solidFill>
            <a:srgbClr val="2A69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347472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4233C"/>
                </a:solidFill>
                <a:latin typeface="Aptos"/>
              </a:defRPr>
            </a:pPr>
            <a:r>
              <a:t>3. Data Understanding &amp; Cleaning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355080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97584"/>
                </a:solidFill>
                <a:latin typeface="Aptos"/>
              </a:defRPr>
            </a:pPr>
            <a:r>
              <a:t>04 / 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325880"/>
            <a:ext cx="3429000" cy="1417320"/>
          </a:xfrm>
          <a:prstGeom prst="roundRect">
            <a:avLst/>
          </a:prstGeom>
          <a:solidFill>
            <a:srgbClr val="F7F9FC"/>
          </a:solidFill>
          <a:ln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1490472"/>
            <a:ext cx="3063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4233C"/>
                </a:solidFill>
                <a:latin typeface="Aptos"/>
              </a:defRPr>
            </a:pPr>
            <a:r>
              <a:t>Initial Structure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892807"/>
            <a:ext cx="3063240" cy="704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80" b="0">
                <a:solidFill>
                  <a:srgbClr val="26303E"/>
                </a:solidFill>
                <a:latin typeface="Aptos"/>
              </a:defRPr>
            </a:pPr>
            <a:r>
              <a:t>19,158 rows × 14 columns. The dataset contains 10 categorical columns, 2 numeric predictors, an ID, and the target.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51960" y="1325880"/>
            <a:ext cx="3429000" cy="1417320"/>
          </a:xfrm>
          <a:prstGeom prst="roundRect">
            <a:avLst/>
          </a:prstGeom>
          <a:solidFill>
            <a:srgbClr val="F7F9FC"/>
          </a:solidFill>
          <a:ln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434840" y="1490472"/>
            <a:ext cx="3063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4233C"/>
                </a:solidFill>
                <a:latin typeface="Aptos"/>
              </a:defRPr>
            </a:pPr>
            <a:r>
              <a:t>Missing Values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34840" y="1892807"/>
            <a:ext cx="3063240" cy="704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80" b="0">
                <a:solidFill>
                  <a:srgbClr val="26303E"/>
                </a:solidFill>
                <a:latin typeface="Aptos"/>
              </a:defRPr>
            </a:pPr>
            <a:r>
              <a:t>Largest gaps: company_type 32.05%, company_size 30.99%, gender 23.53%, major_discipline 14.68%.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09560" y="1325880"/>
            <a:ext cx="3429000" cy="1417320"/>
          </a:xfrm>
          <a:prstGeom prst="roundRect">
            <a:avLst/>
          </a:prstGeom>
          <a:solidFill>
            <a:srgbClr val="F7F9FC"/>
          </a:solidFill>
          <a:ln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092440" y="1490472"/>
            <a:ext cx="3063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4233C"/>
                </a:solidFill>
                <a:latin typeface="Aptos"/>
              </a:defRPr>
            </a:pPr>
            <a:r>
              <a:t>Cleaning Actions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92440" y="1892807"/>
            <a:ext cx="3063240" cy="704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80" b="0">
                <a:solidFill>
                  <a:srgbClr val="26303E"/>
                </a:solidFill>
                <a:latin typeface="Aptos"/>
              </a:defRPr>
            </a:pPr>
            <a:r>
              <a:t>High-missing categorical fields → “Unknown”; lower-missing fields → mode; categorical strings stripped.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324612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A69AF"/>
                </a:solidFill>
                <a:latin typeface="Aptos"/>
              </a:defRPr>
            </a:pPr>
            <a:r>
              <a:t>ADDITIONAL CHECKS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3611880"/>
            <a:ext cx="53035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6303E"/>
                </a:solidFill>
                <a:latin typeface="Aptos"/>
              </a:defRPr>
            </a:pPr>
            <a:r>
              <a:t>• enrollee_id was removed because it is an identifier rather than a predictive attribute.</a:t>
            </a:r>
            <a:br/>
            <a:r>
              <a:t>• Target values were validated before modeling.</a:t>
            </a:r>
            <a:br/>
            <a:r>
              <a:t>• Final validation reported 0 missing values.</a:t>
            </a:r>
            <a:br/>
            <a:r>
              <a:t>• The notebook reports 50 duplicate rows at the final cleaning check.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324612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A69AF"/>
                </a:solidFill>
                <a:latin typeface="Aptos"/>
              </a:defRPr>
            </a:pPr>
            <a:r>
              <a:t>WHY IT MATTERS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3611880"/>
            <a:ext cx="46634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4233C"/>
                </a:solidFill>
                <a:latin typeface="Aptos"/>
              </a:defRPr>
            </a:pPr>
            <a:r>
              <a:t>Cleaning prevents missing information and non-predictive identifiers from distorting the learning process, while preserving useful categories such as company size.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0584" cy="6858000"/>
          </a:xfrm>
          <a:prstGeom prst="rect">
            <a:avLst/>
          </a:prstGeom>
          <a:solidFill>
            <a:srgbClr val="2A69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347472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4233C"/>
                </a:solidFill>
                <a:latin typeface="Aptos"/>
              </a:defRPr>
            </a:pPr>
            <a:r>
              <a:t>4. EDA &amp; Feature Preparation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355080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97584"/>
                </a:solidFill>
                <a:latin typeface="Aptos"/>
              </a:defRPr>
            </a:pPr>
            <a:r>
              <a:t>05 / 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325880"/>
            <a:ext cx="3429000" cy="1554480"/>
          </a:xfrm>
          <a:prstGeom prst="roundRect">
            <a:avLst/>
          </a:prstGeom>
          <a:solidFill>
            <a:srgbClr val="F7F9FC"/>
          </a:solidFill>
          <a:ln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1490472"/>
            <a:ext cx="3063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4233C"/>
                </a:solidFill>
                <a:latin typeface="Aptos"/>
              </a:defRPr>
            </a:pPr>
            <a:r>
              <a:t>Target Distribution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892807"/>
            <a:ext cx="3063240" cy="8412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80" b="0">
                <a:solidFill>
                  <a:srgbClr val="26303E"/>
                </a:solidFill>
                <a:latin typeface="Aptos"/>
              </a:defRPr>
            </a:pPr>
            <a:r>
              <a:t>About 75% of candidates are class 0 and 25% are class 1. The imbalance was considered during evaluation.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51960" y="1325880"/>
            <a:ext cx="3429000" cy="1554480"/>
          </a:xfrm>
          <a:prstGeom prst="roundRect">
            <a:avLst/>
          </a:prstGeom>
          <a:solidFill>
            <a:srgbClr val="F7F9FC"/>
          </a:solidFill>
          <a:ln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434840" y="1490472"/>
            <a:ext cx="3063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4233C"/>
                </a:solidFill>
                <a:latin typeface="Aptos"/>
              </a:defRPr>
            </a:pPr>
            <a:r>
              <a:t>Training Hours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34840" y="1892807"/>
            <a:ext cx="3063240" cy="8412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80" b="0">
                <a:solidFill>
                  <a:srgbClr val="26303E"/>
                </a:solidFill>
                <a:latin typeface="Aptos"/>
              </a:defRPr>
            </a:pPr>
            <a:r>
              <a:t>training_hours was strongly right-skewed (≈1.82), so log1p was applied; skew became approximately −0.35.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09560" y="1325880"/>
            <a:ext cx="3429000" cy="1554480"/>
          </a:xfrm>
          <a:prstGeom prst="roundRect">
            <a:avLst/>
          </a:prstGeom>
          <a:solidFill>
            <a:srgbClr val="F7F9FC"/>
          </a:solidFill>
          <a:ln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092440" y="1490472"/>
            <a:ext cx="3063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4233C"/>
                </a:solidFill>
                <a:latin typeface="Aptos"/>
              </a:defRPr>
            </a:pPr>
            <a:r>
              <a:t>City Feature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92440" y="1892807"/>
            <a:ext cx="3063240" cy="8412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80" b="0">
                <a:solidFill>
                  <a:srgbClr val="26303E"/>
                </a:solidFill>
                <a:latin typeface="Aptos"/>
              </a:defRPr>
            </a:pPr>
            <a:r>
              <a:t>city contains 123 unique values. It was removed to avoid unnecessary high-cardinality encoding; city_development_index was retained.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333756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A69AF"/>
                </a:solidFill>
                <a:latin typeface="Aptos"/>
              </a:defRPr>
            </a:pPr>
            <a:r>
              <a:t>TRANSFORMATIONS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370332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6303E"/>
                </a:solidFill>
                <a:latin typeface="Aptos"/>
              </a:defRPr>
            </a:pPr>
            <a:r>
              <a:t>• experience mapped from ordered text to numeric levels</a:t>
            </a:r>
            <a:br/>
            <a:r>
              <a:t>• last_new_job mapped from “never” through “&gt;4” to numeric values</a:t>
            </a:r>
            <a:br/>
            <a:r>
              <a:t>• training_hours transformed using log1p</a:t>
            </a:r>
            <a:br/>
            <a:r>
              <a:t>• city removed after feature review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26480" y="333756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A69AF"/>
                </a:solidFill>
                <a:latin typeface="Aptos"/>
              </a:defRPr>
            </a:pPr>
            <a:r>
              <a:t>MODEL-READY DATA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26480" y="3703320"/>
            <a:ext cx="49377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6303E"/>
                </a:solidFill>
                <a:latin typeface="Aptos"/>
              </a:defRPr>
            </a:pPr>
            <a:r>
              <a:t>• 80/20 stratified train/test split</a:t>
            </a:r>
            <a:br/>
            <a:r>
              <a:t>• 15,326 training rows; 3,832 test rows</a:t>
            </a:r>
            <a:br/>
            <a:r>
              <a:t>• One-hot encoding for categorical variables</a:t>
            </a:r>
            <a:br/>
            <a:r>
              <a:t>• StandardScaler for four numeric features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571500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233C"/>
                </a:solidFill>
                <a:latin typeface="Aptos"/>
              </a:defRPr>
            </a:pPr>
            <a:r>
              <a:t>After encoding: 34 features in both X_train and X_test.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0584" cy="6858000"/>
          </a:xfrm>
          <a:prstGeom prst="rect">
            <a:avLst/>
          </a:prstGeom>
          <a:solidFill>
            <a:srgbClr val="2A69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347472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4233C"/>
                </a:solidFill>
                <a:latin typeface="Aptos"/>
              </a:defRPr>
            </a:pPr>
            <a:r>
              <a:t>5. Machine Learning Approach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355080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97584"/>
                </a:solidFill>
                <a:latin typeface="Aptos"/>
              </a:defRPr>
            </a:pPr>
            <a:r>
              <a:t>06 / 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417320"/>
            <a:ext cx="1417320" cy="1325880"/>
          </a:xfrm>
          <a:prstGeom prst="roundRect">
            <a:avLst/>
          </a:prstGeom>
          <a:solidFill>
            <a:srgbClr val="F7F9FC"/>
          </a:solidFill>
          <a:ln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" y="1572768"/>
            <a:ext cx="1417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2A69A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3776" y="1965960"/>
            <a:ext cx="134416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30" b="1">
                <a:solidFill>
                  <a:srgbClr val="14233C"/>
                </a:solidFill>
                <a:latin typeface="Aptos"/>
              </a:defRPr>
            </a:pPr>
            <a:r>
              <a:t>Data</a:t>
            </a:r>
            <a:br/>
            <a:r>
              <a:t>Understanding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92808" y="1938528"/>
            <a:ext cx="2011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2A69AF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121408" y="1417320"/>
            <a:ext cx="1417320" cy="1325880"/>
          </a:xfrm>
          <a:prstGeom prst="roundRect">
            <a:avLst/>
          </a:prstGeom>
          <a:solidFill>
            <a:srgbClr val="F7F9FC"/>
          </a:solidFill>
          <a:ln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121408" y="1572768"/>
            <a:ext cx="1417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2A69A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57984" y="1965960"/>
            <a:ext cx="134416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30" b="1">
                <a:solidFill>
                  <a:srgbClr val="14233C"/>
                </a:solidFill>
                <a:latin typeface="Aptos"/>
              </a:defRPr>
            </a:pPr>
            <a:r>
              <a:t>Data</a:t>
            </a:r>
            <a:br/>
            <a:r>
              <a:t>Cleaning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57016" y="1938528"/>
            <a:ext cx="2011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2A69AF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785616" y="1417320"/>
            <a:ext cx="1417320" cy="1325880"/>
          </a:xfrm>
          <a:prstGeom prst="roundRect">
            <a:avLst/>
          </a:prstGeom>
          <a:solidFill>
            <a:srgbClr val="F7F9FC"/>
          </a:solidFill>
          <a:ln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785616" y="1572768"/>
            <a:ext cx="1417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2A69A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22192" y="1965960"/>
            <a:ext cx="134416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30" b="1">
                <a:solidFill>
                  <a:srgbClr val="14233C"/>
                </a:solidFill>
                <a:latin typeface="Aptos"/>
              </a:defRPr>
            </a:pPr>
            <a:r>
              <a:t>EDA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21224" y="1938528"/>
            <a:ext cx="2011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2A69AF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49824" y="1417320"/>
            <a:ext cx="1417320" cy="1325880"/>
          </a:xfrm>
          <a:prstGeom prst="roundRect">
            <a:avLst/>
          </a:prstGeom>
          <a:solidFill>
            <a:srgbClr val="F7F9FC"/>
          </a:solidFill>
          <a:ln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449824" y="1572768"/>
            <a:ext cx="1417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2A69A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0" y="1965960"/>
            <a:ext cx="134416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30" b="1">
                <a:solidFill>
                  <a:srgbClr val="14233C"/>
                </a:solidFill>
                <a:latin typeface="Aptos"/>
              </a:defRPr>
            </a:pPr>
            <a:r>
              <a:t>Feature Engineering</a:t>
            </a:r>
            <a:br/>
            <a:r>
              <a:t>&amp; Preprocessing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85432" y="1938528"/>
            <a:ext cx="2011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2A69AF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114032" y="1417320"/>
            <a:ext cx="1417320" cy="1325880"/>
          </a:xfrm>
          <a:prstGeom prst="roundRect">
            <a:avLst/>
          </a:prstGeom>
          <a:solidFill>
            <a:srgbClr val="F7F9FC"/>
          </a:solidFill>
          <a:ln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114032" y="1572768"/>
            <a:ext cx="1417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2A69A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50608" y="1965960"/>
            <a:ext cx="134416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30" b="1">
                <a:solidFill>
                  <a:srgbClr val="14233C"/>
                </a:solidFill>
                <a:latin typeface="Aptos"/>
              </a:defRPr>
            </a:pPr>
            <a:r>
              <a:t>Model</a:t>
            </a:r>
            <a:br/>
            <a:r>
              <a:t>Training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49640" y="1938528"/>
            <a:ext cx="2011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2A69AF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778240" y="1417320"/>
            <a:ext cx="1417320" cy="1325880"/>
          </a:xfrm>
          <a:prstGeom prst="roundRect">
            <a:avLst/>
          </a:prstGeom>
          <a:solidFill>
            <a:srgbClr val="F7F9FC"/>
          </a:solidFill>
          <a:ln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778240" y="1572768"/>
            <a:ext cx="1417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2A69AF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814815" y="1965960"/>
            <a:ext cx="134416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30" b="1">
                <a:solidFill>
                  <a:srgbClr val="14233C"/>
                </a:solidFill>
                <a:latin typeface="Aptos"/>
              </a:defRPr>
            </a:pPr>
            <a:r>
              <a:t>Evaluation</a:t>
            </a:r>
            <a:br/>
            <a:r>
              <a:t>&amp; Selection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213848" y="1938528"/>
            <a:ext cx="2011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2A69AF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0442448" y="1417320"/>
            <a:ext cx="1417320" cy="1325880"/>
          </a:xfrm>
          <a:prstGeom prst="roundRect">
            <a:avLst/>
          </a:prstGeom>
          <a:solidFill>
            <a:srgbClr val="E8F1FA"/>
          </a:solidFill>
          <a:ln>
            <a:solidFill>
              <a:srgbClr val="2A69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10442448" y="1572768"/>
            <a:ext cx="1417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2A69AF"/>
                </a:solidFill>
                <a:latin typeface="Aptos"/>
              </a:defRPr>
            </a:pPr>
            <a:r>
              <a:t>7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479024" y="1965960"/>
            <a:ext cx="134416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30" b="1">
                <a:solidFill>
                  <a:srgbClr val="14233C"/>
                </a:solidFill>
                <a:latin typeface="Aptos"/>
              </a:defRPr>
            </a:pPr>
            <a:r>
              <a:t>Final</a:t>
            </a:r>
            <a:br/>
            <a:r>
              <a:t>Prediction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" y="32461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A69AF"/>
                </a:solidFill>
                <a:latin typeface="Aptos"/>
              </a:defRPr>
            </a:pPr>
            <a:r>
              <a:t>CLASSIFIERS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40080" y="3611880"/>
            <a:ext cx="3246120" cy="1371600"/>
          </a:xfrm>
          <a:prstGeom prst="roundRect">
            <a:avLst/>
          </a:prstGeom>
          <a:solidFill>
            <a:srgbClr val="F7F9FC"/>
          </a:solidFill>
          <a:ln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822959" y="3776472"/>
            <a:ext cx="2880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4233C"/>
                </a:solidFill>
                <a:latin typeface="Aptos"/>
              </a:defRPr>
            </a:pPr>
            <a:r>
              <a:t>Logistic Regression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2959" y="4178808"/>
            <a:ext cx="28803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80" b="0">
                <a:solidFill>
                  <a:srgbClr val="26303E"/>
                </a:solidFill>
                <a:latin typeface="Aptos"/>
              </a:defRPr>
            </a:pPr>
            <a:r>
              <a:t>Baseline linear classifier used for comparison.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160520" y="3611880"/>
            <a:ext cx="3246120" cy="1371600"/>
          </a:xfrm>
          <a:prstGeom prst="roundRect">
            <a:avLst/>
          </a:prstGeom>
          <a:solidFill>
            <a:srgbClr val="F7F9FC"/>
          </a:solidFill>
          <a:ln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4343400" y="3776472"/>
            <a:ext cx="2880360" cy="32004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defRPr sz="1400" b="1">
                <a:solidFill>
                  <a:srgbClr val="14233C"/>
                </a:solidFill>
                <a:latin typeface="Aptos"/>
              </a:defRPr>
            </a:pPr>
            <a:r>
              <a:rPr lang="en-US" dirty="0">
                <a:ea typeface="+mn-lt"/>
                <a:cs typeface="+mn-lt"/>
              </a:rPr>
              <a:t>Random Forest</a:t>
            </a:r>
            <a:endParaRPr lang="en-US" dirty="0"/>
          </a:p>
        </p:txBody>
      </p:sp>
      <p:sp>
        <p:nvSpPr>
          <p:cNvPr id="40" name="TextBox 39"/>
          <p:cNvSpPr txBox="1"/>
          <p:nvPr/>
        </p:nvSpPr>
        <p:spPr>
          <a:xfrm>
            <a:off x="4343400" y="4178808"/>
            <a:ext cx="2880360" cy="446276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defRPr sz="1180" b="0">
                <a:solidFill>
                  <a:srgbClr val="26303E"/>
                </a:solidFill>
                <a:latin typeface="Aptos"/>
              </a:defRPr>
            </a:pPr>
            <a:r>
              <a:rPr lang="en-US" sz="1150" dirty="0"/>
              <a:t>Ensemble of trees; achieved the strongest F1 score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680960" y="3611880"/>
            <a:ext cx="3246120" cy="1371600"/>
          </a:xfrm>
          <a:prstGeom prst="roundRect">
            <a:avLst/>
          </a:prstGeom>
          <a:solidFill>
            <a:srgbClr val="F7F9FC"/>
          </a:solidFill>
          <a:ln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7863840" y="3776472"/>
            <a:ext cx="2880360" cy="52322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defRPr sz="1400" b="1">
                <a:solidFill>
                  <a:srgbClr val="14233C"/>
                </a:solidFill>
                <a:latin typeface="Aptos"/>
              </a:defRPr>
            </a:pPr>
            <a:r>
              <a:rPr lang="en-US" dirty="0">
                <a:solidFill>
                  <a:srgbClr val="000000"/>
                </a:solidFill>
                <a:latin typeface="Calibri"/>
                <a:ea typeface="+mn-lt"/>
                <a:cs typeface="+mn-lt"/>
              </a:rPr>
              <a:t>Decision tree</a:t>
            </a:r>
            <a:endParaRPr lang="en-US" dirty="0"/>
          </a:p>
          <a:p>
            <a:pPr algn="l">
              <a:defRPr sz="1400" b="1">
                <a:solidFill>
                  <a:srgbClr val="14233C"/>
                </a:solidFill>
                <a:latin typeface="Aptos"/>
              </a:defRPr>
            </a:pPr>
            <a:endParaRPr lang="en-US" dirty="0">
              <a:ea typeface="Calibri"/>
              <a:cs typeface="Calibri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7863840" y="4178808"/>
            <a:ext cx="2880360" cy="623248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defRPr sz="1180" b="0">
                <a:solidFill>
                  <a:srgbClr val="26303E"/>
                </a:solidFill>
                <a:latin typeface="Aptos"/>
              </a:defRPr>
            </a:pPr>
            <a:r>
              <a:rPr lang="en-US" sz="115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Interpretable tree-based classifier for non-linear rules</a:t>
            </a:r>
          </a:p>
          <a:p>
            <a:pPr>
              <a:defRPr sz="1180" b="0">
                <a:solidFill>
                  <a:srgbClr val="26303E"/>
                </a:solidFill>
                <a:latin typeface="Aptos"/>
              </a:defRPr>
            </a:pPr>
            <a:endParaRPr lang="en-US" sz="1150" dirty="0">
              <a:ea typeface="Calibri"/>
              <a:cs typeface="Calibri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640080" y="5440680"/>
            <a:ext cx="10424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233C"/>
                </a:solidFill>
                <a:latin typeface="Aptos"/>
              </a:defRPr>
            </a:pPr>
            <a:r>
              <a:t>Evaluation metrics: Accuracy • Precision • Recall • F1 Score</a:t>
            </a:r>
            <a:br/>
            <a:r>
              <a:t>Selection criterion: highest F1 Score because the target classes are imbalanced.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0584" cy="6858000"/>
          </a:xfrm>
          <a:prstGeom prst="rect">
            <a:avLst/>
          </a:prstGeom>
          <a:solidFill>
            <a:srgbClr val="2A69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347472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4233C"/>
                </a:solidFill>
                <a:latin typeface="Aptos"/>
              </a:defRPr>
            </a:pPr>
            <a:r>
              <a:t>6. Results &amp; Model Selection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355080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97584"/>
                </a:solidFill>
                <a:latin typeface="Aptos"/>
              </a:defRPr>
            </a:pPr>
            <a:r>
              <a:t>07 / 10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22777038"/>
              </p:ext>
            </p:extLst>
          </p:nvPr>
        </p:nvGraphicFramePr>
        <p:xfrm>
          <a:off x="589280" y="1422400"/>
          <a:ext cx="7452355" cy="280633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9047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9047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9047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9047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9047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80357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dirty="0"/>
                        <a:t>Model</a:t>
                      </a:r>
                      <a:endParaRPr lang="en-US"/>
                    </a:p>
                  </a:txBody>
                  <a:tcPr>
                    <a:solidFill>
                      <a:srgbClr val="14233C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dirty="0"/>
                        <a:t>Accuracy</a:t>
                      </a:r>
                      <a:endParaRPr lang="en-US"/>
                    </a:p>
                  </a:txBody>
                  <a:tcPr>
                    <a:solidFill>
                      <a:srgbClr val="14233C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dirty="0"/>
                        <a:t>Precision</a:t>
                      </a:r>
                      <a:endParaRPr lang="en-US"/>
                    </a:p>
                  </a:txBody>
                  <a:tcPr>
                    <a:solidFill>
                      <a:srgbClr val="14233C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dirty="0"/>
                        <a:t>Recall</a:t>
                      </a:r>
                    </a:p>
                  </a:txBody>
                  <a:tcPr>
                    <a:solidFill>
                      <a:srgbClr val="14233C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dirty="0"/>
                        <a:t>F1 Score</a:t>
                      </a:r>
                      <a:endParaRPr lang="en-US"/>
                    </a:p>
                  </a:txBody>
                  <a:tcPr>
                    <a:solidFill>
                      <a:srgbClr val="14233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08660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dirty="0"/>
                        <a:t>Logistic Regression</a:t>
                      </a:r>
                      <a:endParaRPr lang="en-US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800" b="0" i="0" u="none" strike="noStrike" noProof="0" dirty="0">
                          <a:latin typeface="Calibri"/>
                          <a:ea typeface="Calibri"/>
                          <a:cs typeface="Calibri"/>
                        </a:rPr>
                        <a:t>76.93%</a:t>
                      </a:r>
                      <a:endParaRPr lang="en-US" dirty="0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800" b="0" i="0" u="none" strike="noStrike" noProof="0" dirty="0">
                          <a:latin typeface="Calibri"/>
                          <a:ea typeface="Calibri"/>
                          <a:cs typeface="Calibri"/>
                        </a:rPr>
                        <a:t>57.54%</a:t>
                      </a:r>
                      <a:endParaRPr lang="en-US" dirty="0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800" b="0" i="0" u="none" strike="noStrike" noProof="0" dirty="0">
                          <a:latin typeface="Calibri"/>
                          <a:ea typeface="Calibri"/>
                          <a:cs typeface="Calibri"/>
                        </a:rPr>
                        <a:t>28.38%</a:t>
                      </a:r>
                      <a:endParaRPr lang="en-US" dirty="0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800" b="0" i="0" u="none" strike="noStrike" noProof="0" dirty="0">
                          <a:latin typeface="Calibri"/>
                          <a:ea typeface="Calibri"/>
                          <a:cs typeface="Calibri"/>
                        </a:rPr>
                        <a:t>38.01%</a:t>
                      </a:r>
                      <a:endParaRPr lang="en-US" dirty="0"/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08660"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noProof="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Decision tree</a:t>
                      </a:r>
                    </a:p>
                    <a:p>
                      <a:pPr lvl="0" algn="ctr">
                        <a:buNone/>
                      </a:pPr>
                      <a:endParaRPr lang="en-US" sz="1800" b="0" i="0" u="none" strike="noStrike" noProof="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800" b="0" i="0" u="none" strike="noStrike" noProof="0" dirty="0">
                          <a:latin typeface="Calibri"/>
                          <a:ea typeface="Calibri"/>
                          <a:cs typeface="Calibri"/>
                        </a:rPr>
                        <a:t>70.28%</a:t>
                      </a:r>
                      <a:endParaRPr lang="en-US" dirty="0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800" b="0" i="0" u="none" strike="noStrike" noProof="0" dirty="0">
                          <a:latin typeface="Calibri"/>
                          <a:ea typeface="Calibri"/>
                          <a:cs typeface="Calibri"/>
                        </a:rPr>
                        <a:t>41.25%</a:t>
                      </a:r>
                      <a:endParaRPr lang="en-US" dirty="0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800" b="0" i="0" u="none" strike="noStrike" noProof="0" dirty="0">
                          <a:latin typeface="Calibri"/>
                          <a:ea typeface="Calibri"/>
                          <a:cs typeface="Calibri"/>
                        </a:rPr>
                        <a:t>45.45%</a:t>
                      </a:r>
                      <a:endParaRPr lang="en-US" dirty="0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800" b="0" i="0" u="none" strike="noStrike" noProof="0" dirty="0">
                          <a:latin typeface="Calibri"/>
                          <a:ea typeface="Calibri"/>
                          <a:cs typeface="Calibri"/>
                        </a:rPr>
                        <a:t>43.25%</a:t>
                      </a:r>
                      <a:endParaRPr lang="en-US" dirty="0"/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08660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800" b="0" i="0" u="none" strike="noStrike" noProof="0" dirty="0">
                          <a:latin typeface="Calibri"/>
                          <a:ea typeface="Calibri"/>
                          <a:cs typeface="Calibri"/>
                        </a:rPr>
                        <a:t>Random Forest</a:t>
                      </a:r>
                    </a:p>
                  </a:txBody>
                  <a:tcPr>
                    <a:solidFill>
                      <a:srgbClr val="E8F1FA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800" b="0" i="0" u="none" strike="noStrike" noProof="0" dirty="0">
                          <a:latin typeface="Calibri"/>
                          <a:ea typeface="Calibri"/>
                          <a:cs typeface="Calibri"/>
                        </a:rPr>
                        <a:t>78.31%</a:t>
                      </a:r>
                      <a:endParaRPr lang="en-US" dirty="0"/>
                    </a:p>
                  </a:txBody>
                  <a:tcPr>
                    <a:solidFill>
                      <a:srgbClr val="E8F1FA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800" b="0" i="0" u="none" strike="noStrike" noProof="0" dirty="0">
                          <a:latin typeface="Calibri"/>
                          <a:ea typeface="Calibri"/>
                          <a:cs typeface="Calibri"/>
                        </a:rPr>
                        <a:t>57.58%</a:t>
                      </a:r>
                      <a:endParaRPr lang="en-US" dirty="0"/>
                    </a:p>
                  </a:txBody>
                  <a:tcPr>
                    <a:solidFill>
                      <a:srgbClr val="E8F1FA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800" b="0" i="0" u="none" strike="noStrike" noProof="0" dirty="0">
                          <a:latin typeface="Calibri"/>
                          <a:ea typeface="Calibri"/>
                          <a:cs typeface="Calibri"/>
                        </a:rPr>
                        <a:t>49.32%</a:t>
                      </a:r>
                      <a:endParaRPr lang="en-US" dirty="0"/>
                    </a:p>
                  </a:txBody>
                  <a:tcPr>
                    <a:solidFill>
                      <a:srgbClr val="E8F1FA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800" b="0" i="0" u="none" strike="noStrike" noProof="0" dirty="0">
                          <a:latin typeface="Calibri"/>
                          <a:ea typeface="Calibri"/>
                          <a:cs typeface="Calibri"/>
                        </a:rPr>
                        <a:t>53.13%</a:t>
                      </a:r>
                      <a:endParaRPr lang="en-US" dirty="0"/>
                    </a:p>
                  </a:txBody>
                  <a:tcPr>
                    <a:solidFill>
                      <a:srgbClr val="E8F1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8437880" y="1422400"/>
            <a:ext cx="2606040" cy="1143000"/>
          </a:xfrm>
          <a:prstGeom prst="roundRect">
            <a:avLst/>
          </a:prstGeom>
          <a:solidFill>
            <a:srgbClr val="E8F1FA"/>
          </a:solidFill>
          <a:ln>
            <a:solidFill>
              <a:srgbClr val="2A69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366760" y="1664208"/>
            <a:ext cx="2606040" cy="446276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>
              <a:defRPr sz="2300" b="1">
                <a:solidFill>
                  <a:srgbClr val="14233C"/>
                </a:solidFill>
                <a:latin typeface="Aptos"/>
              </a:defRPr>
            </a:pPr>
            <a:r>
              <a:rPr lang="en-US"/>
              <a:t>53.13</a:t>
            </a:r>
            <a:r>
              <a:t>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66760" y="2130552"/>
            <a:ext cx="2606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97584"/>
                </a:solidFill>
                <a:latin typeface="Aptos"/>
              </a:defRPr>
            </a:pPr>
            <a:r>
              <a:t>Best F1 Score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4572000"/>
            <a:ext cx="7132320" cy="32004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defRPr sz="1400" b="1">
                <a:solidFill>
                  <a:srgbClr val="14233C"/>
                </a:solidFill>
                <a:latin typeface="Aptos"/>
              </a:defRPr>
            </a:pPr>
            <a:r>
              <a:rPr lang="en-US" dirty="0">
                <a:ea typeface="+mn-lt"/>
                <a:cs typeface="+mn-lt"/>
              </a:rPr>
              <a:t>Selected Model: Random Forest</a:t>
            </a:r>
            <a:endParaRPr lang="en-US" dirty="0">
              <a:ea typeface="Calibri"/>
              <a:cs typeface="Calibri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85800" y="4983480"/>
            <a:ext cx="10241280" cy="1246495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defRPr sz="1500" b="0">
                <a:solidFill>
                  <a:srgbClr val="26303E"/>
                </a:solidFill>
                <a:latin typeface="Aptos"/>
              </a:defRPr>
            </a:pPr>
            <a:r>
              <a:rPr lang="en-US" dirty="0">
                <a:ea typeface="+mn-lt"/>
                <a:cs typeface="+mn-lt"/>
              </a:rPr>
              <a:t>Random Forest was selected because it achieved the best overall balance across the evaluation metrics, with the highest:</a:t>
            </a:r>
            <a:endParaRPr lang="en-US" dirty="0"/>
          </a:p>
          <a:p>
            <a:pPr marL="285750" indent="-285750">
              <a:buFont typeface="Arial"/>
              <a:buChar char="•"/>
              <a:defRPr sz="1500" b="0">
                <a:solidFill>
                  <a:srgbClr val="26303E"/>
                </a:solidFill>
                <a:latin typeface="Aptos"/>
              </a:defRPr>
            </a:pPr>
            <a:r>
              <a:rPr lang="en-US" dirty="0">
                <a:ea typeface="+mn-lt"/>
                <a:cs typeface="+mn-lt"/>
              </a:rPr>
              <a:t>Accuracy</a:t>
            </a:r>
            <a:endParaRPr lang="en-US" dirty="0"/>
          </a:p>
          <a:p>
            <a:pPr marL="285750" indent="-285750">
              <a:buFont typeface="Arial"/>
              <a:buChar char="•"/>
              <a:defRPr sz="1500" b="0">
                <a:solidFill>
                  <a:srgbClr val="26303E"/>
                </a:solidFill>
                <a:latin typeface="Aptos"/>
              </a:defRPr>
            </a:pPr>
            <a:r>
              <a:rPr lang="en-US" dirty="0">
                <a:ea typeface="+mn-lt"/>
                <a:cs typeface="+mn-lt"/>
              </a:rPr>
              <a:t>Precision</a:t>
            </a:r>
            <a:endParaRPr lang="en-US" dirty="0"/>
          </a:p>
          <a:p>
            <a:pPr marL="285750" indent="-285750">
              <a:buFont typeface="Arial"/>
              <a:buChar char="•"/>
              <a:defRPr sz="1500" b="0">
                <a:solidFill>
                  <a:srgbClr val="26303E"/>
                </a:solidFill>
                <a:latin typeface="Aptos"/>
              </a:defRPr>
            </a:pPr>
            <a:r>
              <a:rPr lang="en-US" dirty="0">
                <a:ea typeface="+mn-lt"/>
                <a:cs typeface="+mn-lt"/>
              </a:rPr>
              <a:t>F1-Score</a:t>
            </a:r>
            <a:endParaRPr lang="en-US" dirty="0"/>
          </a:p>
          <a:p>
            <a:pPr algn="l">
              <a:defRPr sz="1500" b="0">
                <a:solidFill>
                  <a:srgbClr val="26303E"/>
                </a:solidFill>
                <a:latin typeface="Aptos"/>
              </a:defRPr>
            </a:pPr>
            <a:endParaRPr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0584" cy="6858000"/>
          </a:xfrm>
          <a:prstGeom prst="rect">
            <a:avLst/>
          </a:prstGeom>
          <a:solidFill>
            <a:srgbClr val="2A69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347472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4233C"/>
                </a:solidFill>
                <a:latin typeface="Aptos"/>
              </a:defRPr>
            </a:pPr>
            <a:r>
              <a:t>7. Best Model — Confusion Matrix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841248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97584"/>
                </a:solidFill>
                <a:latin typeface="Aptos"/>
              </a:defRPr>
            </a:pPr>
            <a:r>
              <a:t>Random Forest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355080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97584"/>
                </a:solidFill>
                <a:latin typeface="Aptos"/>
              </a:defRPr>
            </a:pPr>
            <a:r>
              <a:t>08 / 10</a:t>
            </a:r>
          </a:p>
        </p:txBody>
      </p:sp>
      <p:pic>
        <p:nvPicPr>
          <p:cNvPr id="7" name="Picture 6" descr="confusion_121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25880"/>
            <a:ext cx="5715000" cy="45262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720840" y="141732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A69AF"/>
                </a:solidFill>
                <a:latin typeface="Aptos"/>
              </a:defRPr>
            </a:pPr>
            <a:r>
              <a:t>INTERPRETATION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20840" y="1783080"/>
            <a:ext cx="45720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6303E"/>
                </a:solidFill>
                <a:latin typeface="Aptos"/>
              </a:defRPr>
            </a:pPr>
            <a:r>
              <a:t>• True Positive: correctly predicted class 1</a:t>
            </a:r>
            <a:br/>
            <a:r>
              <a:t>• True Negative: correctly predicted class 0</a:t>
            </a:r>
            <a:br/>
            <a:r>
              <a:t>• False Positive: predicted class 1 incorrectly</a:t>
            </a:r>
            <a:br/>
            <a:r>
              <a:t>• False Negative: missed a class-1 case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20840" y="443484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A69AF"/>
                </a:solidFill>
                <a:latin typeface="Aptos"/>
              </a:defRPr>
            </a:pPr>
            <a:r>
              <a:t>KEY METRICS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20840" y="4800600"/>
            <a:ext cx="43891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4233C"/>
                </a:solidFill>
                <a:latin typeface="Aptos"/>
              </a:defRPr>
            </a:pPr>
            <a:r>
              <a:t>Recall = 49.32%</a:t>
            </a:r>
            <a:br/>
            <a:r>
              <a:t>F1 Score = 53.13%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9144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0584" cy="6858000"/>
          </a:xfrm>
          <a:prstGeom prst="rect">
            <a:avLst/>
          </a:prstGeom>
          <a:solidFill>
            <a:srgbClr val="2A69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347472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4233C"/>
                </a:solidFill>
                <a:latin typeface="Aptos"/>
              </a:defRPr>
            </a:pPr>
            <a:r>
              <a:t>8. Business Impact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355080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97584"/>
                </a:solidFill>
                <a:latin typeface="Aptos"/>
              </a:defRPr>
            </a:pPr>
            <a:r>
              <a:t>09 / 10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203704"/>
            <a:ext cx="43891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3099816"/>
            <a:ext cx="43891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3995928"/>
            <a:ext cx="43891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4892040"/>
            <a:ext cx="43891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53720" y="560324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233C"/>
                </a:solidFill>
                <a:latin typeface="Aptos"/>
              </a:defRPr>
            </a:pPr>
            <a:r>
              <a:t>Expected value: less repetitive work, faster prioritization, and a more structured first-pass screening process.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A53DB8B-408A-AC07-E28D-F7E144555EE5}"/>
              </a:ext>
            </a:extLst>
          </p:cNvPr>
          <p:cNvSpPr txBox="1"/>
          <p:nvPr/>
        </p:nvSpPr>
        <p:spPr>
          <a:xfrm>
            <a:off x="908884" y="1068675"/>
            <a:ext cx="8016240" cy="470898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b="1" dirty="0"/>
              <a:t>How Can This Help HR?</a:t>
            </a:r>
            <a:endParaRPr lang="en-US" sz="2000" b="1">
              <a:ea typeface="Calibri"/>
              <a:cs typeface="Calibri"/>
            </a:endParaRPr>
          </a:p>
          <a:p>
            <a:r>
              <a:rPr lang="en-US" sz="2000" dirty="0">
                <a:ea typeface="+mn-lt"/>
                <a:cs typeface="+mn-lt"/>
              </a:rPr>
              <a:t>The Smart Recruitment Assistant can help organizations:</a:t>
            </a:r>
            <a:endParaRPr lang="en-US" sz="2000" dirty="0">
              <a:ea typeface="Calibri"/>
              <a:cs typeface="Calibri"/>
            </a:endParaRPr>
          </a:p>
          <a:p>
            <a:r>
              <a:rPr lang="en-US" sz="2000" b="1" dirty="0">
                <a:ea typeface="+mn-lt"/>
                <a:cs typeface="+mn-lt"/>
              </a:rPr>
              <a:t>1.Save Time</a:t>
            </a:r>
            <a:br>
              <a:rPr lang="en-US" sz="2000" b="1" dirty="0">
                <a:ea typeface="+mn-lt"/>
                <a:cs typeface="+mn-lt"/>
              </a:rPr>
            </a:br>
            <a:r>
              <a:rPr lang="en-US" sz="2000" dirty="0">
                <a:ea typeface="+mn-lt"/>
                <a:cs typeface="+mn-lt"/>
              </a:rPr>
              <a:t>Automate part of the initial candidate screening process.</a:t>
            </a:r>
            <a:endParaRPr lang="en-US" sz="2000" dirty="0">
              <a:ea typeface="Calibri"/>
              <a:cs typeface="Calibri"/>
            </a:endParaRPr>
          </a:p>
          <a:p>
            <a:endParaRPr lang="en-US" sz="2000" dirty="0">
              <a:ea typeface="+mn-lt"/>
              <a:cs typeface="+mn-lt"/>
            </a:endParaRPr>
          </a:p>
          <a:p>
            <a:r>
              <a:rPr lang="en-US" sz="2000" b="1" dirty="0">
                <a:ea typeface="+mn-lt"/>
                <a:cs typeface="+mn-lt"/>
              </a:rPr>
              <a:t>2.Reduce Manual Work</a:t>
            </a:r>
            <a:br>
              <a:rPr lang="en-US" sz="2000" b="1" dirty="0">
                <a:ea typeface="+mn-lt"/>
                <a:cs typeface="+mn-lt"/>
              </a:rPr>
            </a:br>
            <a:r>
              <a:rPr lang="en-US" sz="2000" dirty="0">
                <a:ea typeface="+mn-lt"/>
                <a:cs typeface="+mn-lt"/>
              </a:rPr>
              <a:t>HR teams can focus less on candidates who are unlikely to change jobs.</a:t>
            </a:r>
            <a:endParaRPr lang="en-US" sz="2000" dirty="0">
              <a:ea typeface="Calibri"/>
              <a:cs typeface="Calibri"/>
            </a:endParaRPr>
          </a:p>
          <a:p>
            <a:endParaRPr lang="en-US" sz="2000" dirty="0">
              <a:ea typeface="+mn-lt"/>
              <a:cs typeface="+mn-lt"/>
            </a:endParaRPr>
          </a:p>
          <a:p>
            <a:r>
              <a:rPr lang="en-US" sz="2000" b="1" dirty="0">
                <a:ea typeface="+mn-lt"/>
                <a:cs typeface="+mn-lt"/>
              </a:rPr>
              <a:t>3.Prioritize Candidates</a:t>
            </a:r>
            <a:br>
              <a:rPr lang="en-US" sz="2000" b="1" dirty="0">
                <a:ea typeface="+mn-lt"/>
                <a:cs typeface="+mn-lt"/>
              </a:rPr>
            </a:br>
            <a:r>
              <a:rPr lang="en-US" sz="2000" dirty="0">
                <a:ea typeface="+mn-lt"/>
                <a:cs typeface="+mn-lt"/>
              </a:rPr>
              <a:t>Identify candidates with a higher probability of looking for new opportunities.</a:t>
            </a:r>
            <a:endParaRPr lang="en-US" sz="2000" dirty="0">
              <a:ea typeface="Calibri"/>
              <a:cs typeface="Calibri"/>
            </a:endParaRPr>
          </a:p>
          <a:p>
            <a:endParaRPr lang="en-US" sz="2000" dirty="0">
              <a:ea typeface="+mn-lt"/>
              <a:cs typeface="+mn-lt"/>
            </a:endParaRPr>
          </a:p>
          <a:p>
            <a:r>
              <a:rPr lang="en-US" sz="2000" b="1" dirty="0">
                <a:ea typeface="+mn-lt"/>
                <a:cs typeface="+mn-lt"/>
              </a:rPr>
              <a:t>4.Improve Recruitment Efficiency</a:t>
            </a:r>
            <a:endParaRPr lang="en-US" sz="2000" dirty="0">
              <a:ea typeface="Calibri"/>
              <a:cs typeface="Calibri"/>
            </a:endParaRPr>
          </a:p>
          <a:p>
            <a:r>
              <a:rPr lang="en-US" sz="2000" dirty="0">
                <a:ea typeface="+mn-lt"/>
                <a:cs typeface="+mn-lt"/>
              </a:rPr>
              <a:t>Support faster interview scheduling and more focused headhunting.</a:t>
            </a:r>
            <a:endParaRPr lang="en-US" sz="2000" dirty="0">
              <a:ea typeface="Calibri"/>
              <a:cs typeface="Calibri"/>
            </a:endParaRPr>
          </a:p>
          <a:p>
            <a:pPr algn="l"/>
            <a:endParaRPr lang="en-US" sz="2000" dirty="0">
              <a:ea typeface="Calibri"/>
              <a:cs typeface="Calibri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479D5AE-59CD-C157-EBB6-2EEB3C160C55}"/>
              </a:ext>
            </a:extLst>
          </p:cNvPr>
          <p:cNvSpPr txBox="1"/>
          <p:nvPr/>
        </p:nvSpPr>
        <p:spPr>
          <a:xfrm>
            <a:off x="564117" y="5993715"/>
            <a:ext cx="846328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ea typeface="+mn-lt"/>
                <a:cs typeface="+mn-lt"/>
              </a:rPr>
              <a:t>Less manual screening → Better candidate prioritization → Faster recruitment decisions</a:t>
            </a:r>
            <a:endParaRPr 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0584" cy="6858000"/>
          </a:xfrm>
          <a:prstGeom prst="rect">
            <a:avLst/>
          </a:prstGeom>
          <a:solidFill>
            <a:srgbClr val="2A69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347472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4233C"/>
                </a:solidFill>
                <a:latin typeface="Aptos"/>
              </a:defRPr>
            </a:pPr>
            <a:r>
              <a:t>9. Final Prediction System — Demo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355080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97584"/>
                </a:solidFill>
                <a:latin typeface="Aptos"/>
              </a:defRPr>
            </a:pPr>
            <a:r>
              <a:t>10 / 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18120" y="141732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A69AF"/>
                </a:solidFill>
                <a:latin typeface="Aptos"/>
              </a:defRPr>
            </a:pPr>
            <a:r>
              <a:t>FINAL TAKEAWAY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18120" y="1828800"/>
            <a:ext cx="3474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4233C"/>
                </a:solidFill>
                <a:latin typeface="Aptos"/>
              </a:defRPr>
            </a:pPr>
            <a:r>
              <a:t>A complete workflow was developed from data preparation to model comparison and selection.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18120" y="3383280"/>
            <a:ext cx="347472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26303E"/>
                </a:solidFill>
                <a:latin typeface="Aptos"/>
              </a:defRPr>
            </a:pPr>
            <a:r>
              <a:t>Random Forest delivered the strongest F1 Score and was selected as the best-performing model.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18120" y="5074920"/>
            <a:ext cx="3474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0">
                <a:solidFill>
                  <a:srgbClr val="697584"/>
                </a:solidFill>
                <a:latin typeface="Aptos"/>
              </a:defRPr>
            </a:pPr>
            <a:r>
              <a:t>Add the actual prediction output here as the project demo.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1F25AF-9F7E-F63D-A6A2-E889A15A1C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48B25196-2008-8842-B50D-D0CCB5273E6F}"/>
              </a:ext>
            </a:extLst>
          </p:cNvPr>
          <p:cNvSpPr/>
          <p:nvPr/>
        </p:nvSpPr>
        <p:spPr>
          <a:xfrm>
            <a:off x="0" y="0"/>
            <a:ext cx="100584" cy="6858000"/>
          </a:xfrm>
          <a:prstGeom prst="rect">
            <a:avLst/>
          </a:prstGeom>
          <a:solidFill>
            <a:srgbClr val="2A69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3C9EBDB-8E18-8223-4CE2-9D342D48CD7A}"/>
              </a:ext>
            </a:extLst>
          </p:cNvPr>
          <p:cNvSpPr txBox="1"/>
          <p:nvPr/>
        </p:nvSpPr>
        <p:spPr>
          <a:xfrm>
            <a:off x="10881360" y="6355080"/>
            <a:ext cx="731520" cy="2286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r">
              <a:defRPr sz="900" b="0">
                <a:solidFill>
                  <a:srgbClr val="697584"/>
                </a:solidFill>
                <a:latin typeface="Aptos"/>
              </a:defRPr>
            </a:pPr>
            <a:r>
              <a:rPr lang="en-US" dirty="0"/>
              <a:t>11</a:t>
            </a:r>
            <a:r>
              <a:rPr dirty="0"/>
              <a:t>/ </a:t>
            </a:r>
            <a:r>
              <a:rPr lang="en-US" dirty="0"/>
              <a:t>13</a:t>
            </a:r>
            <a:endParaRPr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7E1805A-283A-E2EF-873E-C44AAF96A653}"/>
              </a:ext>
            </a:extLst>
          </p:cNvPr>
          <p:cNvSpPr txBox="1"/>
          <p:nvPr/>
        </p:nvSpPr>
        <p:spPr>
          <a:xfrm>
            <a:off x="822187" y="498512"/>
            <a:ext cx="2743200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2800" b="1" dirty="0">
                <a:ea typeface="+mn-lt"/>
                <a:cs typeface="+mn-lt"/>
              </a:rPr>
              <a:t>10.Conclusion</a:t>
            </a:r>
            <a:endParaRPr lang="en-US" sz="2800" b="1" dirty="0">
              <a:ea typeface="Calibri"/>
              <a:cs typeface="Calibri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490A6BD-8A8A-8610-B45F-F076E71BE6E2}"/>
              </a:ext>
            </a:extLst>
          </p:cNvPr>
          <p:cNvSpPr txBox="1"/>
          <p:nvPr/>
        </p:nvSpPr>
        <p:spPr>
          <a:xfrm>
            <a:off x="1190495" y="1245101"/>
            <a:ext cx="8544560" cy="526297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dirty="0">
                <a:ea typeface="+mn-lt"/>
                <a:cs typeface="+mn-lt"/>
              </a:rPr>
              <a:t>The project demonstrates how Machine Learning can support HR recruitment by predicting candidate job-change intention.</a:t>
            </a:r>
            <a:endParaRPr lang="en-US" sz="2400" dirty="0">
              <a:ea typeface="Calibri"/>
              <a:cs typeface="Calibri"/>
            </a:endParaRPr>
          </a:p>
          <a:p>
            <a:endParaRPr lang="en-US" sz="2400" dirty="0">
              <a:ea typeface="+mn-lt"/>
              <a:cs typeface="+mn-lt"/>
            </a:endParaRPr>
          </a:p>
          <a:p>
            <a:r>
              <a:rPr lang="en-US" sz="2400" b="1" dirty="0">
                <a:ea typeface="+mn-lt"/>
                <a:cs typeface="+mn-lt"/>
              </a:rPr>
              <a:t>Key Insights:</a:t>
            </a:r>
            <a:endParaRPr lang="en-US" sz="2400" dirty="0"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sz="2400" dirty="0">
                <a:ea typeface="+mn-lt"/>
                <a:cs typeface="+mn-lt"/>
              </a:rPr>
              <a:t>City Development Index was one of the most influential predictors.</a:t>
            </a:r>
            <a:endParaRPr lang="en-US" sz="2400" dirty="0"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sz="2400" dirty="0">
                <a:ea typeface="+mn-lt"/>
                <a:cs typeface="+mn-lt"/>
              </a:rPr>
              <a:t>Training hours were associated with higher job-change tendency.</a:t>
            </a:r>
            <a:endParaRPr lang="en-US" sz="2400" dirty="0"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sz="2400" dirty="0">
                <a:ea typeface="+mn-lt"/>
                <a:cs typeface="+mn-lt"/>
              </a:rPr>
              <a:t>Mid-level candidates showed higher job-change probabilities.</a:t>
            </a:r>
            <a:endParaRPr lang="en-US" sz="2400" dirty="0"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endParaRPr lang="en-US" sz="2400" dirty="0"/>
          </a:p>
          <a:p>
            <a:r>
              <a:rPr lang="en-US" sz="2400" b="1" dirty="0"/>
              <a:t>Future Work:</a:t>
            </a:r>
            <a:endParaRPr lang="en-US" sz="2400" b="1" dirty="0"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sz="2400" dirty="0">
                <a:ea typeface="+mn-lt"/>
                <a:cs typeface="+mn-lt"/>
              </a:rPr>
              <a:t>Improve Recall through better model tuning</a:t>
            </a:r>
            <a:endParaRPr lang="en-US" sz="2400" dirty="0"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sz="2400" dirty="0">
                <a:ea typeface="+mn-lt"/>
                <a:cs typeface="+mn-lt"/>
              </a:rPr>
              <a:t>Deploy the model as a real-time web service</a:t>
            </a:r>
            <a:endParaRPr lang="en-US" sz="2400" dirty="0"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sz="2400" dirty="0">
                <a:ea typeface="+mn-lt"/>
                <a:cs typeface="+mn-lt"/>
              </a:rPr>
              <a:t>Add real-time candidate engagement data</a:t>
            </a:r>
            <a:endParaRPr lang="en-US" sz="2400" dirty="0">
              <a:ea typeface="Calibri"/>
              <a:cs typeface="Calibri"/>
            </a:endParaRPr>
          </a:p>
          <a:p>
            <a:pPr algn="l"/>
            <a:endParaRPr lang="en-US" sz="2400" dirty="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00245362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F022B7-B2B1-AF0A-CD0A-EFA47A1437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C86B6D05-D418-5708-CF61-2083DF62AA95}"/>
              </a:ext>
            </a:extLst>
          </p:cNvPr>
          <p:cNvSpPr/>
          <p:nvPr/>
        </p:nvSpPr>
        <p:spPr>
          <a:xfrm>
            <a:off x="0" y="0"/>
            <a:ext cx="100584" cy="6858000"/>
          </a:xfrm>
          <a:prstGeom prst="rect">
            <a:avLst/>
          </a:prstGeom>
          <a:solidFill>
            <a:srgbClr val="2A69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CAB139C-09FD-C301-E8DF-60C30955877A}"/>
              </a:ext>
            </a:extLst>
          </p:cNvPr>
          <p:cNvSpPr txBox="1"/>
          <p:nvPr/>
        </p:nvSpPr>
        <p:spPr>
          <a:xfrm>
            <a:off x="10881360" y="6355080"/>
            <a:ext cx="731520" cy="2286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r">
              <a:defRPr sz="900" b="0">
                <a:solidFill>
                  <a:srgbClr val="697584"/>
                </a:solidFill>
                <a:latin typeface="Aptos"/>
              </a:defRPr>
            </a:pPr>
            <a:r>
              <a:rPr lang="en-US" dirty="0"/>
              <a:t>12</a:t>
            </a:r>
            <a:r>
              <a:rPr dirty="0"/>
              <a:t>/ </a:t>
            </a:r>
            <a:r>
              <a:rPr lang="en-US" dirty="0"/>
              <a:t>13</a:t>
            </a:r>
            <a:endParaRPr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D56848B-C753-C72D-A297-5E993A87F9A1}"/>
              </a:ext>
            </a:extLst>
          </p:cNvPr>
          <p:cNvSpPr txBox="1"/>
          <p:nvPr/>
        </p:nvSpPr>
        <p:spPr>
          <a:xfrm>
            <a:off x="630261" y="256033"/>
            <a:ext cx="4531360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 dirty="0">
                <a:ea typeface="+mn-lt"/>
                <a:cs typeface="+mn-lt"/>
              </a:rPr>
              <a:t>11.Smart Recruitment Application</a:t>
            </a:r>
            <a:endParaRPr lang="en-US" sz="2400" b="1" dirty="0">
              <a:ea typeface="Calibri"/>
              <a:cs typeface="Calibri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AF5B8F5-6C2F-5BB5-7BAE-4D77767ED7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3218" y="1457960"/>
            <a:ext cx="5734685" cy="368808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11BE806-14FF-1095-BF9E-59410E8207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9230" y="1483360"/>
            <a:ext cx="5498421" cy="36779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160856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4F931F-8818-D711-8224-F2BA96CC8B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D9B5A4A-F9F4-1D13-E40C-A13F3791E142}"/>
              </a:ext>
            </a:extLst>
          </p:cNvPr>
          <p:cNvSpPr/>
          <p:nvPr/>
        </p:nvSpPr>
        <p:spPr>
          <a:xfrm>
            <a:off x="0" y="0"/>
            <a:ext cx="100584" cy="6858000"/>
          </a:xfrm>
          <a:prstGeom prst="rect">
            <a:avLst/>
          </a:prstGeom>
          <a:solidFill>
            <a:srgbClr val="2A69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D04E521-17D3-5B9E-E704-2A79BB8F8448}"/>
              </a:ext>
            </a:extLst>
          </p:cNvPr>
          <p:cNvSpPr txBox="1"/>
          <p:nvPr/>
        </p:nvSpPr>
        <p:spPr>
          <a:xfrm>
            <a:off x="10881360" y="6355080"/>
            <a:ext cx="731520" cy="2286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r">
              <a:defRPr sz="900" b="0">
                <a:solidFill>
                  <a:srgbClr val="697584"/>
                </a:solidFill>
                <a:latin typeface="Aptos"/>
              </a:defRPr>
            </a:pPr>
            <a:r>
              <a:rPr lang="en-US" dirty="0"/>
              <a:t>13</a:t>
            </a:r>
            <a:r>
              <a:rPr dirty="0"/>
              <a:t> / </a:t>
            </a:r>
            <a:r>
              <a:rPr lang="en-US" dirty="0"/>
              <a:t>13</a:t>
            </a:r>
            <a:endParaRPr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55B7980-4C56-4E51-6195-558EAB64EB92}"/>
              </a:ext>
            </a:extLst>
          </p:cNvPr>
          <p:cNvSpPr txBox="1"/>
          <p:nvPr/>
        </p:nvSpPr>
        <p:spPr>
          <a:xfrm>
            <a:off x="3208695" y="2968882"/>
            <a:ext cx="5770880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5400" dirty="0">
                <a:highlight>
                  <a:srgbClr val="8AAED4"/>
                </a:highlight>
                <a:ea typeface="Calibri"/>
                <a:cs typeface="Calibri"/>
              </a:rPr>
              <a:t>Thank you</a:t>
            </a:r>
            <a:endParaRPr lang="en-US">
              <a:highlight>
                <a:srgbClr val="8AAED4"/>
              </a:highlight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4221057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Widescreen</PresentationFormat>
  <Paragraphs>0</Paragraphs>
  <Slides>13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4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469</cp:revision>
  <dcterms:created xsi:type="dcterms:W3CDTF">2013-01-27T09:14:16Z</dcterms:created>
  <dcterms:modified xsi:type="dcterms:W3CDTF">2026-09-08T18:33:03Z</dcterms:modified>
  <cp:category/>
</cp:coreProperties>
</file>