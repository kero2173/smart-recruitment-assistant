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AAED4"/>
    <a:srgbClr val="4F81BD"/>
    <a:srgbClr val="7095C0"/>
    <a:srgbClr val="FFFFFF"/>
    <a:srgbClr val="D6E2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0000000-0000-0000-0000-000000000000}" v="1248" dt="2026-09-08T18:31:50.989"/>
    <p1510:client id="{27C42F77-B9D4-3E27-9EF8-B04839042113}" v="392" dt="2026-09-08T17:26:16.22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9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652903" y="576953"/>
            <a:ext cx="8716027" cy="1138773"/>
          </a:xfrm>
          <a:prstGeom prst="rect">
            <a:avLst/>
          </a:prstGeom>
          <a:noFill/>
          <a:ln>
            <a:solidFill>
              <a:srgbClr val="4472C4"/>
            </a:solidFill>
          </a:ln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 sz="3400" b="1">
                <a:solidFill>
                  <a:srgbClr val="14233C"/>
                </a:solidFill>
                <a:latin typeface="Aptos"/>
              </a:defRPr>
            </a:pPr>
            <a:r>
              <a:rPr dirty="0">
                <a:highlight>
                  <a:srgbClr val="D6E2F0"/>
                </a:highlight>
              </a:rPr>
              <a:t>Smart Recruitment</a:t>
            </a:r>
            <a:br>
              <a:rPr dirty="0">
                <a:highlight>
                  <a:srgbClr val="D6E2F0"/>
                </a:highlight>
              </a:rPr>
            </a:br>
            <a:r>
              <a:rPr dirty="0">
                <a:highlight>
                  <a:srgbClr val="D6E2F0"/>
                </a:highlight>
              </a:rPr>
              <a:t>Assistant</a:t>
            </a:r>
            <a:r>
              <a:rPr lang="en-US" dirty="0">
                <a:highlight>
                  <a:srgbClr val="D6E2F0"/>
                </a:highlight>
              </a:rPr>
              <a:t> Project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7BF4AE-D63B-E16C-F31D-841431179368}"/>
              </a:ext>
            </a:extLst>
          </p:cNvPr>
          <p:cNvSpPr txBox="1"/>
          <p:nvPr/>
        </p:nvSpPr>
        <p:spPr>
          <a:xfrm>
            <a:off x="1758192" y="1893172"/>
            <a:ext cx="2743199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b="1" dirty="0">
                <a:solidFill>
                  <a:schemeClr val="bg1"/>
                </a:solidFill>
                <a:highlight>
                  <a:srgbClr val="4F81BD"/>
                </a:highlight>
                <a:ea typeface="Calibri"/>
                <a:cs typeface="Calibri"/>
              </a:rPr>
              <a:t>Team members:</a:t>
            </a:r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D0572B19-ECA9-3F9B-BE07-C390EDF535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8851799"/>
              </p:ext>
            </p:extLst>
          </p:nvPr>
        </p:nvGraphicFramePr>
        <p:xfrm>
          <a:off x="3025397" y="2534087"/>
          <a:ext cx="7343533" cy="4043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8475">
                  <a:extLst>
                    <a:ext uri="{9D8B030D-6E8A-4147-A177-3AD203B41FA5}">
                      <a16:colId xmlns:a16="http://schemas.microsoft.com/office/drawing/2014/main" val="1591194812"/>
                    </a:ext>
                  </a:extLst>
                </a:gridCol>
                <a:gridCol w="3512422">
                  <a:extLst>
                    <a:ext uri="{9D8B030D-6E8A-4147-A177-3AD203B41FA5}">
                      <a16:colId xmlns:a16="http://schemas.microsoft.com/office/drawing/2014/main" val="1862381799"/>
                    </a:ext>
                  </a:extLst>
                </a:gridCol>
                <a:gridCol w="3472636">
                  <a:extLst>
                    <a:ext uri="{9D8B030D-6E8A-4147-A177-3AD203B41FA5}">
                      <a16:colId xmlns:a16="http://schemas.microsoft.com/office/drawing/2014/main" val="428225759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CONTRIBUTION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586233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Kerolos Nagih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u="sng" dirty="0"/>
                        <a:t>Team Leader</a:t>
                      </a:r>
                      <a:r>
                        <a:rPr lang="en-US" b="1" dirty="0"/>
                        <a:t>—Model Training 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41019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Shnoda Faik Botros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EDA &amp; Visualization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304848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Kyrillos Mamdouh</a:t>
                      </a:r>
                      <a:endParaRPr lang="en-US" b="1" dirty="0" err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Feature Engineering &amp; Preprocessing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8537626"/>
                  </a:ext>
                </a:extLst>
              </a:tr>
              <a:tr h="452876">
                <a:tc>
                  <a:txBody>
                    <a:bodyPr/>
                    <a:lstStyle/>
                    <a:p>
                      <a:r>
                        <a:rPr lang="en-US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Merna </a:t>
                      </a:r>
                      <a:r>
                        <a:rPr lang="en-US" b="1" dirty="0" err="1"/>
                        <a:t>Shokralla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Final Prediction System &amp; Integration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8447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Nouran Hisham Mokhtar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Data Understanding &amp; Dataset Analysis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258904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Basmala Mohamed Hassan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Data Cleaning &amp; Missing Values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838041081"/>
                  </a:ext>
                </a:extLst>
              </a:tr>
              <a:tr h="370839"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dirty="0"/>
                        <a:t>7</a:t>
                      </a:r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>
                        <a:buNone/>
                      </a:pPr>
                      <a:r>
                        <a:rPr lang="en-US" b="1" dirty="0"/>
                        <a:t>Nourhan Soliman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Model Evaluation &amp; Model Selection</a:t>
                      </a:r>
                      <a:endParaRPr lang="en-US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18796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62280" y="4066032"/>
            <a:ext cx="10515600" cy="5078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2700" b="1">
                <a:solidFill>
                  <a:srgbClr val="14233C"/>
                </a:solidFill>
                <a:latin typeface="Aptos"/>
              </a:defRPr>
            </a:pPr>
            <a:r>
              <a:rPr lang="en-US" dirty="0"/>
              <a:t> </a:t>
            </a:r>
            <a:r>
              <a:rPr dirty="0"/>
              <a:t>Problem Definition</a:t>
            </a:r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dirty="0"/>
              <a:t>02 / </a:t>
            </a:r>
            <a:r>
              <a:rPr lang="ar-EG" dirty="0"/>
              <a:t>12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594360" y="4790440"/>
            <a:ext cx="3474720" cy="15544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48839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Recruitment Challenge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5398007"/>
            <a:ext cx="3108960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Large candidate pools make manual screening repetitive, time-consuming, and difficult to scale consistently.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26280" y="4780280"/>
            <a:ext cx="3474720" cy="15544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09160" y="48839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Project Objective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5194807"/>
            <a:ext cx="3108960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Predict whether a candidate belongs to the job-change class using available profile, career, company, and training information.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65160" y="4790440"/>
            <a:ext cx="3474720" cy="15544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08999" y="488391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Decision Support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8999" y="5194807"/>
            <a:ext cx="3108960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Provide HR with an additional data-driven signal for prioritization during the first screening stage.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03DF5-D4BA-0D8D-A572-AE9CB372A641}"/>
              </a:ext>
            </a:extLst>
          </p:cNvPr>
          <p:cNvSpPr txBox="1"/>
          <p:nvPr/>
        </p:nvSpPr>
        <p:spPr>
          <a:xfrm>
            <a:off x="464382" y="197622"/>
            <a:ext cx="11145520" cy="34163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ar-EG" sz="2400" b="1" dirty="0"/>
              <a:t>1</a:t>
            </a:r>
            <a:r>
              <a:rPr lang="en-US" sz="2400" b="1" dirty="0"/>
              <a:t>. Project Overview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r-EG" sz="2400" b="1" dirty="0"/>
              <a:t> </a:t>
            </a:r>
            <a:r>
              <a:rPr lang="en-US" sz="2400" b="1" dirty="0"/>
              <a:t>Industry Background</a:t>
            </a:r>
            <a:br>
              <a:rPr lang="en-US" sz="2400" dirty="0"/>
            </a:br>
            <a:r>
              <a:rPr lang="en-US" sz="2400" dirty="0"/>
              <a:t>Modern organizations receive large numbers of applications, making manual screening time-consuming and difficult to scale.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r-EG" sz="2400" b="1" dirty="0"/>
              <a:t> </a:t>
            </a:r>
            <a:r>
              <a:rPr lang="en-US" sz="2400" b="1" dirty="0"/>
              <a:t>Project Goal</a:t>
            </a:r>
            <a:br>
              <a:rPr lang="en-US" sz="2400" dirty="0"/>
            </a:br>
            <a:r>
              <a:rPr lang="en-US" sz="2400" dirty="0"/>
              <a:t>Build a Machine Learning system that predicts a candidate’s </a:t>
            </a:r>
            <a:r>
              <a:rPr lang="en-US" sz="2400" b="1" dirty="0"/>
              <a:t>job-change intention</a:t>
            </a:r>
            <a:r>
              <a:rPr lang="en-US" sz="2400" dirty="0"/>
              <a:t> and provides HR with an additional signal during initial screening.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ar-EG" sz="2400" b="1" dirty="0"/>
              <a:t> </a:t>
            </a:r>
            <a:r>
              <a:rPr lang="en-US" sz="2400" b="1" dirty="0"/>
              <a:t>Dataset</a:t>
            </a:r>
            <a:br>
              <a:rPr lang="en-US" sz="2400" dirty="0"/>
            </a:br>
            <a:r>
              <a:rPr lang="en-US" sz="2400" dirty="0"/>
              <a:t>HR Analytics: Job Change of Data Scientists — </a:t>
            </a:r>
            <a:r>
              <a:rPr lang="en-US" sz="2400" b="1" dirty="0"/>
              <a:t>19,158 records × 14 columns</a:t>
            </a:r>
            <a:endParaRPr lang="en-US" sz="2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233C"/>
                </a:solidFill>
                <a:latin typeface="Aptos"/>
              </a:defRPr>
            </a:pPr>
            <a:r>
              <a:rPr dirty="0"/>
              <a:t>2. Dataset &amp; Target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dirty="0"/>
              <a:t>03 / </a:t>
            </a:r>
            <a:r>
              <a:rPr lang="ar-EG" dirty="0"/>
              <a:t>12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224028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508760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233C"/>
                </a:solidFill>
                <a:latin typeface="Aptos"/>
              </a:defRPr>
            </a:pPr>
            <a:r>
              <a:t>19,158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1168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7584"/>
                </a:solidFill>
                <a:latin typeface="Aptos"/>
              </a:defRPr>
            </a:pPr>
            <a:r>
              <a:t>records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46120" y="1325880"/>
            <a:ext cx="224028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1508760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233C"/>
                </a:solidFill>
                <a:latin typeface="Aptos"/>
              </a:defRPr>
            </a:pPr>
            <a:r>
              <a:t>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01168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7584"/>
                </a:solidFill>
                <a:latin typeface="Aptos"/>
              </a:defRPr>
            </a:pPr>
            <a:r>
              <a:t>original columns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52160" y="1325880"/>
            <a:ext cx="2240280" cy="114300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0" y="1508760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233C"/>
                </a:solidFill>
                <a:latin typeface="Aptos"/>
              </a:defRPr>
            </a:pPr>
            <a:r>
              <a:t>75.07%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201168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7584"/>
                </a:solidFill>
                <a:latin typeface="Aptos"/>
              </a:defRPr>
            </a:pPr>
            <a:r>
              <a:t>target =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58200" y="1325880"/>
            <a:ext cx="2240280" cy="1143000"/>
          </a:xfrm>
          <a:prstGeom prst="roundRect">
            <a:avLst/>
          </a:prstGeom>
          <a:solidFill>
            <a:srgbClr val="E8F1FA"/>
          </a:solidFill>
          <a:ln>
            <a:solidFill>
              <a:srgbClr val="2A69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58200" y="1508760"/>
            <a:ext cx="2240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14233C"/>
                </a:solidFill>
                <a:latin typeface="Aptos"/>
              </a:defRPr>
            </a:pPr>
            <a:r>
              <a:t>24.93%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2011680"/>
            <a:ext cx="2240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7584"/>
                </a:solidFill>
                <a:latin typeface="Aptos"/>
              </a:defRPr>
            </a:pPr>
            <a:r>
              <a:t>target = 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889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FEATURE GROUPS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3127248"/>
            <a:ext cx="49377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26303E"/>
                </a:solidFill>
                <a:latin typeface="Aptos"/>
              </a:defRPr>
            </a:pPr>
            <a:r>
              <a:t>• Location: city, city development index</a:t>
            </a:r>
            <a:br/>
            <a:r>
              <a:t>• Profile: gender, education, major discipline</a:t>
            </a:r>
            <a:br/>
            <a:r>
              <a:t>• Career: relevant experience, experience, last new job</a:t>
            </a:r>
            <a:br/>
            <a:r>
              <a:t>• Organization: company size, company type</a:t>
            </a:r>
            <a:br/>
            <a:r>
              <a:t>• Training: training hours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80760" y="2788920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TARGET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80760" y="3154680"/>
            <a:ext cx="4937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1">
                <a:solidFill>
                  <a:srgbClr val="14233C"/>
                </a:solidFill>
                <a:latin typeface="Aptos"/>
              </a:defRPr>
            </a:pPr>
            <a:r>
              <a:t>0 = not looking for a job change</a:t>
            </a:r>
            <a:br/>
            <a:r>
              <a:t>1 = looking for a job change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4251960"/>
            <a:ext cx="47548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50" b="0">
                <a:solidFill>
                  <a:srgbClr val="26303E"/>
                </a:solidFill>
                <a:latin typeface="Aptos"/>
              </a:defRPr>
            </a:pPr>
            <a:r>
              <a:t>The target is imbalanced: 14,381 observations are class 0 and 4,777 are class 1. This makes Recall and F1 important evaluation measures.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233C"/>
                </a:solidFill>
                <a:latin typeface="Aptos"/>
              </a:defRPr>
            </a:pPr>
            <a:r>
              <a:t>3. Data Understanding &amp; Cleaning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dirty="0"/>
              <a:t>04 / </a:t>
            </a:r>
            <a:r>
              <a:rPr lang="ar-EG" dirty="0"/>
              <a:t>12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429000" cy="141732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9047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Initial 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92807"/>
            <a:ext cx="3063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19,158 rows × 14 columns. The dataset contains 10 categorical columns, 2 numeric predictors, an ID, and the target.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25880"/>
            <a:ext cx="3429000" cy="141732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49047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Missing Values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892807"/>
            <a:ext cx="3063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Largest gaps: company_type 32.05%, company_size 30.99%, gender 23.53%, major_discipline 14.68%.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325880"/>
            <a:ext cx="3429000" cy="141732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92440" y="149047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Cleaning Actions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892807"/>
            <a:ext cx="306324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High-missing categorical fields → “Unknown”; lower-missing fields → mode; categorical strings stripped.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2461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ADDITIONAL CHECKS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611880"/>
            <a:ext cx="53035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6303E"/>
                </a:solidFill>
                <a:latin typeface="Aptos"/>
              </a:defRPr>
            </a:pPr>
            <a:r>
              <a:t>• enrollee_id was removed because it is an identifier rather than a predictive attribute.</a:t>
            </a:r>
            <a:br/>
            <a:r>
              <a:t>• Target values were validated before modeling.</a:t>
            </a:r>
            <a:br/>
            <a:r>
              <a:t>• Final validation reported 0 missing values.</a:t>
            </a:r>
            <a:br/>
            <a:r>
              <a:t>• The notebook reports 50 duplicate rows at the final cleaning check.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246120"/>
            <a:ext cx="2468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WHY IT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611880"/>
            <a:ext cx="46634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Cleaning prevents missing information and non-predictive identifiers from distorting the learning process, while preserving useful categories such as company size.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233C"/>
                </a:solidFill>
                <a:latin typeface="Aptos"/>
              </a:defRPr>
            </a:pPr>
            <a:r>
              <a:t>4. EDA &amp; Feature Preparation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dirty="0"/>
              <a:t>05 / </a:t>
            </a:r>
            <a:r>
              <a:rPr lang="ar-EG" dirty="0"/>
              <a:t>12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594360" y="1325880"/>
            <a:ext cx="3429000" cy="15544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9047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Target Distribution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892807"/>
            <a:ext cx="3063240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About 75% of candidates are class 0 and 25% are class 1. The imbalance was considered during evaluation.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1960" y="1325880"/>
            <a:ext cx="3429000" cy="15544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434840" y="149047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Training Hours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892807"/>
            <a:ext cx="3063240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training_hours was strongly right-skewed (≈1.82), so log1p was applied; skew became approximately −0.35.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09560" y="1325880"/>
            <a:ext cx="3429000" cy="15544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092440" y="1490472"/>
            <a:ext cx="3063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City Feature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92440" y="1892807"/>
            <a:ext cx="3063240" cy="8412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city contains 123 unique values. It was removed to avoid unnecessary high-cardinality encoding; city_development_index was retained.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33375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TRANSFORMATIONS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03320"/>
            <a:ext cx="51206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6303E"/>
                </a:solidFill>
                <a:latin typeface="Aptos"/>
              </a:defRPr>
            </a:pPr>
            <a:r>
              <a:t>• experience mapped from ordered text to numeric levels</a:t>
            </a:r>
            <a:br/>
            <a:r>
              <a:t>• last_new_job mapped from “never” through “&gt;4” to numeric values</a:t>
            </a:r>
            <a:br/>
            <a:r>
              <a:t>• training_hours transformed using log1p</a:t>
            </a:r>
            <a:br/>
            <a:r>
              <a:t>• city removed after feature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337560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MODEL-READY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3703320"/>
            <a:ext cx="49377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6303E"/>
                </a:solidFill>
                <a:latin typeface="Aptos"/>
              </a:defRPr>
            </a:pPr>
            <a:r>
              <a:t>• 80/20 stratified train/test split</a:t>
            </a:r>
            <a:br/>
            <a:r>
              <a:t>• 15,326 training rows; 3,832 test rows</a:t>
            </a:r>
            <a:br/>
            <a:r>
              <a:t>• One-hot encoding for categorical variables</a:t>
            </a:r>
            <a:br/>
            <a:r>
              <a:t>• StandardScaler for four numeric features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7150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233C"/>
                </a:solidFill>
                <a:latin typeface="Aptos"/>
              </a:defRPr>
            </a:pPr>
            <a:r>
              <a:t>After encoding: 34 features in both X_train and X_test.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233C"/>
                </a:solidFill>
                <a:latin typeface="Aptos"/>
              </a:defRPr>
            </a:pPr>
            <a:r>
              <a:t>5. Machine Learning Approach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dirty="0"/>
              <a:t>06 / </a:t>
            </a:r>
            <a:r>
              <a:rPr lang="ar-EG" dirty="0"/>
              <a:t>12</a:t>
            </a:r>
            <a:endParaRPr dirty="0"/>
          </a:p>
        </p:txBody>
      </p:sp>
      <p:sp>
        <p:nvSpPr>
          <p:cNvPr id="7" name="Rounded Rectangle 6"/>
          <p:cNvSpPr/>
          <p:nvPr/>
        </p:nvSpPr>
        <p:spPr>
          <a:xfrm>
            <a:off x="457200" y="1417320"/>
            <a:ext cx="1417320" cy="13258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57276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69A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" y="1965960"/>
            <a:ext cx="13441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30" b="1">
                <a:solidFill>
                  <a:srgbClr val="14233C"/>
                </a:solidFill>
                <a:latin typeface="Aptos"/>
              </a:defRPr>
            </a:pPr>
            <a:r>
              <a:t>Data</a:t>
            </a:r>
            <a:br/>
            <a:r>
              <a:t>Understanding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92808" y="193852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A69A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21408" y="1417320"/>
            <a:ext cx="1417320" cy="13258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121408" y="157276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69A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57984" y="1965960"/>
            <a:ext cx="13441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30" b="1">
                <a:solidFill>
                  <a:srgbClr val="14233C"/>
                </a:solidFill>
                <a:latin typeface="Aptos"/>
              </a:defRPr>
            </a:pPr>
            <a:r>
              <a:t>Data</a:t>
            </a:r>
            <a:br/>
            <a:r>
              <a:t>Cleaning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7016" y="193852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A69A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85616" y="1417320"/>
            <a:ext cx="1417320" cy="13258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785616" y="157276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69A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22192" y="1965960"/>
            <a:ext cx="13441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30" b="1">
                <a:solidFill>
                  <a:srgbClr val="14233C"/>
                </a:solidFill>
                <a:latin typeface="Aptos"/>
              </a:defRPr>
            </a:pPr>
            <a:r>
              <a:t>EDA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21224" y="193852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A69A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49824" y="1417320"/>
            <a:ext cx="1417320" cy="13258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449824" y="157276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69A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0" y="1965960"/>
            <a:ext cx="13441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30" b="1">
                <a:solidFill>
                  <a:srgbClr val="14233C"/>
                </a:solidFill>
                <a:latin typeface="Aptos"/>
              </a:defRPr>
            </a:pPr>
            <a:r>
              <a:t>Feature Engineering</a:t>
            </a:r>
            <a:br/>
            <a:r>
              <a:t>&amp; Preprocessing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85432" y="193852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A69A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114032" y="1417320"/>
            <a:ext cx="1417320" cy="13258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114032" y="157276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69A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50608" y="1965960"/>
            <a:ext cx="13441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30" b="1">
                <a:solidFill>
                  <a:srgbClr val="14233C"/>
                </a:solidFill>
                <a:latin typeface="Aptos"/>
              </a:defRPr>
            </a:pPr>
            <a:r>
              <a:t>Model</a:t>
            </a:r>
            <a:br/>
            <a:r>
              <a:t>Training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49640" y="193852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A69A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778240" y="1417320"/>
            <a:ext cx="1417320" cy="132588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778240" y="157276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69A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814815" y="1965960"/>
            <a:ext cx="13441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30" b="1">
                <a:solidFill>
                  <a:srgbClr val="14233C"/>
                </a:solidFill>
                <a:latin typeface="Aptos"/>
              </a:defRPr>
            </a:pPr>
            <a:r>
              <a:t>Evaluation</a:t>
            </a:r>
            <a:br/>
            <a:r>
              <a:t>&amp; Selection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213848" y="1938528"/>
            <a:ext cx="2011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A69AF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442448" y="1417320"/>
            <a:ext cx="1417320" cy="1325880"/>
          </a:xfrm>
          <a:prstGeom prst="roundRect">
            <a:avLst/>
          </a:prstGeom>
          <a:solidFill>
            <a:srgbClr val="E8F1FA"/>
          </a:solidFill>
          <a:ln>
            <a:solidFill>
              <a:srgbClr val="2A69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10442448" y="1572768"/>
            <a:ext cx="1417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A69AF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9024" y="1965960"/>
            <a:ext cx="13441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30" b="1">
                <a:solidFill>
                  <a:srgbClr val="14233C"/>
                </a:solidFill>
                <a:latin typeface="Aptos"/>
              </a:defRPr>
            </a:pPr>
            <a:r>
              <a:t>Final</a:t>
            </a:r>
            <a:br/>
            <a:r>
              <a:t>Prediction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24612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CLASSIFIERS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40080" y="3611880"/>
            <a:ext cx="3246120" cy="137160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822959" y="3776472"/>
            <a:ext cx="2880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r>
              <a:t>Logistic Regression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59" y="4178808"/>
            <a:ext cx="288036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80" b="0">
                <a:solidFill>
                  <a:srgbClr val="26303E"/>
                </a:solidFill>
                <a:latin typeface="Aptos"/>
              </a:defRPr>
            </a:pPr>
            <a:r>
              <a:t>Baseline linear classifier used for comparison.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160520" y="3611880"/>
            <a:ext cx="3246120" cy="137160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343400" y="3776472"/>
            <a:ext cx="2880360" cy="32004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400" b="1">
                <a:solidFill>
                  <a:srgbClr val="14233C"/>
                </a:solidFill>
                <a:latin typeface="Aptos"/>
              </a:defRPr>
            </a:pPr>
            <a:r>
              <a:rPr lang="en-US" dirty="0">
                <a:ea typeface="+mn-lt"/>
                <a:cs typeface="+mn-lt"/>
              </a:rPr>
              <a:t>Random Forest</a:t>
            </a:r>
            <a:endParaRPr lang="en-US" dirty="0"/>
          </a:p>
        </p:txBody>
      </p:sp>
      <p:sp>
        <p:nvSpPr>
          <p:cNvPr id="40" name="TextBox 39"/>
          <p:cNvSpPr txBox="1"/>
          <p:nvPr/>
        </p:nvSpPr>
        <p:spPr>
          <a:xfrm>
            <a:off x="4343400" y="4178808"/>
            <a:ext cx="2880360" cy="44627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180" b="0">
                <a:solidFill>
                  <a:srgbClr val="26303E"/>
                </a:solidFill>
                <a:latin typeface="Aptos"/>
              </a:defRPr>
            </a:pPr>
            <a:r>
              <a:rPr lang="en-US" sz="1150" dirty="0"/>
              <a:t>Ensemble of trees; achieved the strongest F1 score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0" y="3611880"/>
            <a:ext cx="3246120" cy="1371600"/>
          </a:xfrm>
          <a:prstGeom prst="roundRect">
            <a:avLst/>
          </a:prstGeom>
          <a:solidFill>
            <a:srgbClr val="F7F9FC"/>
          </a:solidFill>
          <a:ln>
            <a:solidFill>
              <a:srgbClr val="DA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863840" y="3776472"/>
            <a:ext cx="2880360" cy="52322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400" b="1">
                <a:solidFill>
                  <a:srgbClr val="14233C"/>
                </a:solidFill>
                <a:latin typeface="Aptos"/>
              </a:defRPr>
            </a:pPr>
            <a:r>
              <a:rPr lang="en-US" dirty="0">
                <a:solidFill>
                  <a:srgbClr val="000000"/>
                </a:solidFill>
                <a:latin typeface="Calibri"/>
                <a:ea typeface="+mn-lt"/>
                <a:cs typeface="+mn-lt"/>
              </a:rPr>
              <a:t>Decision tree</a:t>
            </a:r>
            <a:endParaRPr lang="en-US" dirty="0"/>
          </a:p>
          <a:p>
            <a:pPr algn="l">
              <a:defRPr sz="1400" b="1">
                <a:solidFill>
                  <a:srgbClr val="14233C"/>
                </a:solidFill>
                <a:latin typeface="Aptos"/>
              </a:defRPr>
            </a:pPr>
            <a:endParaRPr lang="en-US" dirty="0">
              <a:ea typeface="Calibri"/>
              <a:cs typeface="Calibri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7863840" y="4178808"/>
            <a:ext cx="2880360" cy="623248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180" b="0">
                <a:solidFill>
                  <a:srgbClr val="26303E"/>
                </a:solidFill>
                <a:latin typeface="Aptos"/>
              </a:defRPr>
            </a:pPr>
            <a:r>
              <a:rPr lang="en-US" sz="1150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Interpretable tree-based classifier for non-linear rules</a:t>
            </a:r>
          </a:p>
          <a:p>
            <a:pPr>
              <a:defRPr sz="1180" b="0">
                <a:solidFill>
                  <a:srgbClr val="26303E"/>
                </a:solidFill>
                <a:latin typeface="Aptos"/>
              </a:defRPr>
            </a:pPr>
            <a:endParaRPr lang="en-US" sz="1150" dirty="0">
              <a:ea typeface="Calibri"/>
              <a:cs typeface="Calibri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640080" y="544068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233C"/>
                </a:solidFill>
                <a:latin typeface="Aptos"/>
              </a:defRPr>
            </a:pPr>
            <a:r>
              <a:t>Evaluation metrics: Accuracy • Precision • Recall • F1 Score</a:t>
            </a:r>
            <a:br/>
            <a:r>
              <a:t>Selection criterion: highest F1 Score because the target classes are imbalanced.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233C"/>
                </a:solidFill>
                <a:latin typeface="Aptos"/>
              </a:defRPr>
            </a:pPr>
            <a:r>
              <a:t>6. Results &amp; Model Selection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dirty="0"/>
              <a:t>07 / </a:t>
            </a:r>
            <a:r>
              <a:rPr lang="ar-EG" dirty="0"/>
              <a:t>12</a:t>
            </a:r>
            <a:endParaRPr dirty="0"/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2777038"/>
              </p:ext>
            </p:extLst>
          </p:nvPr>
        </p:nvGraphicFramePr>
        <p:xfrm>
          <a:off x="589280" y="1422400"/>
          <a:ext cx="7452355" cy="28063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047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9047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904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4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904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680357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Model</a:t>
                      </a:r>
                      <a:endParaRPr lang="en-US"/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Accuracy</a:t>
                      </a:r>
                      <a:endParaRPr lang="en-US"/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Precision</a:t>
                      </a:r>
                      <a:endParaRPr lang="en-US"/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Recall</a:t>
                      </a:r>
                    </a:p>
                  </a:txBody>
                  <a:tcPr>
                    <a:solidFill>
                      <a:srgbClr val="14233C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F1 Score</a:t>
                      </a:r>
                      <a:endParaRPr lang="en-US"/>
                    </a:p>
                  </a:txBody>
                  <a:tcPr>
                    <a:solidFill>
                      <a:srgbClr val="14233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dirty="0"/>
                        <a:t>Logistic Regression</a:t>
                      </a:r>
                      <a:endParaRPr lang="en-US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76.93%</a:t>
                      </a:r>
                      <a:endParaRPr lang="en-US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57.54%</a:t>
                      </a:r>
                      <a:endParaRPr lang="en-US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28.38%</a:t>
                      </a:r>
                      <a:endParaRPr lang="en-US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38.01%</a:t>
                      </a:r>
                      <a:endParaRPr lang="en-US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lv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800" b="0" i="0" u="none" strike="noStrike" noProof="0" dirty="0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Decision tree</a:t>
                      </a:r>
                    </a:p>
                    <a:p>
                      <a:pPr lvl="0" algn="ctr">
                        <a:buNone/>
                      </a:pPr>
                      <a:endParaRPr lang="en-US" sz="1800" b="0" i="0" u="none" strike="noStrike" noProof="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70.28%</a:t>
                      </a:r>
                      <a:endParaRPr lang="en-US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41.25%</a:t>
                      </a:r>
                      <a:endParaRPr lang="en-US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45.45%</a:t>
                      </a:r>
                      <a:endParaRPr lang="en-US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43.25%</a:t>
                      </a:r>
                      <a:endParaRPr lang="en-US" dirty="0"/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8660"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Random Forest</a:t>
                      </a:r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78.31%</a:t>
                      </a:r>
                      <a:endParaRPr lang="en-US" dirty="0"/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57.58%</a:t>
                      </a:r>
                      <a:endParaRPr lang="en-US" dirty="0"/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49.32%</a:t>
                      </a:r>
                      <a:endParaRPr lang="en-US" dirty="0"/>
                    </a:p>
                  </a:txBody>
                  <a:tcPr>
                    <a:solidFill>
                      <a:srgbClr val="E8F1FA"/>
                    </a:solidFill>
                  </a:tcPr>
                </a:tc>
                <a:tc>
                  <a:txBody>
                    <a:bodyPr/>
                    <a:lstStyle/>
                    <a:p>
                      <a:pPr lvl="0" algn="ctr">
                        <a:buNone/>
                      </a:pPr>
                      <a:r>
                        <a:rPr lang="en-US" sz="1800" b="0" i="0" u="none" strike="noStrike" noProof="0" dirty="0">
                          <a:latin typeface="Calibri"/>
                          <a:ea typeface="Calibri"/>
                          <a:cs typeface="Calibri"/>
                        </a:rPr>
                        <a:t>53.13%</a:t>
                      </a:r>
                      <a:endParaRPr lang="en-US" dirty="0"/>
                    </a:p>
                  </a:txBody>
                  <a:tcPr>
                    <a:solidFill>
                      <a:srgbClr val="E8F1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437880" y="1422400"/>
            <a:ext cx="2606040" cy="1143000"/>
          </a:xfrm>
          <a:prstGeom prst="roundRect">
            <a:avLst/>
          </a:prstGeom>
          <a:solidFill>
            <a:srgbClr val="E8F1FA"/>
          </a:solidFill>
          <a:ln>
            <a:solidFill>
              <a:srgbClr val="2A69A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366760" y="1664208"/>
            <a:ext cx="2606040" cy="446276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ctr">
              <a:defRPr sz="2300" b="1">
                <a:solidFill>
                  <a:srgbClr val="14233C"/>
                </a:solidFill>
                <a:latin typeface="Aptos"/>
              </a:defRPr>
            </a:pPr>
            <a:r>
              <a:rPr lang="en-US"/>
              <a:t>53.13</a:t>
            </a:r>
            <a:r>
              <a:t>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2130552"/>
            <a:ext cx="2606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697584"/>
                </a:solidFill>
                <a:latin typeface="Aptos"/>
              </a:defRPr>
            </a:pPr>
            <a:r>
              <a:t>Best F1 Score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572000"/>
            <a:ext cx="7132320" cy="32004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400" b="1">
                <a:solidFill>
                  <a:srgbClr val="14233C"/>
                </a:solidFill>
                <a:latin typeface="Aptos"/>
              </a:defRPr>
            </a:pPr>
            <a:r>
              <a:rPr lang="en-US" dirty="0">
                <a:ea typeface="+mn-lt"/>
                <a:cs typeface="+mn-lt"/>
              </a:rPr>
              <a:t>Selected Model: Random Forest</a:t>
            </a:r>
            <a:endParaRPr lang="en-US" dirty="0">
              <a:ea typeface="Calibri"/>
              <a:cs typeface="Calibri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85800" y="4983480"/>
            <a:ext cx="10241280" cy="1246495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defRPr sz="1500" b="0">
                <a:solidFill>
                  <a:srgbClr val="26303E"/>
                </a:solidFill>
                <a:latin typeface="Aptos"/>
              </a:defRPr>
            </a:pPr>
            <a:r>
              <a:rPr lang="en-US" dirty="0">
                <a:ea typeface="+mn-lt"/>
                <a:cs typeface="+mn-lt"/>
              </a:rPr>
              <a:t>Random Forest was selected because it achieved the best overall balance across the evaluation metrics, with the highest:</a:t>
            </a:r>
            <a:endParaRPr lang="en-US" dirty="0"/>
          </a:p>
          <a:p>
            <a:pPr marL="285750" indent="-285750">
              <a:buFont typeface="Arial"/>
              <a:buChar char="•"/>
              <a:defRPr sz="1500" b="0">
                <a:solidFill>
                  <a:srgbClr val="26303E"/>
                </a:solidFill>
                <a:latin typeface="Aptos"/>
              </a:defRPr>
            </a:pPr>
            <a:r>
              <a:rPr lang="en-US" dirty="0">
                <a:ea typeface="+mn-lt"/>
                <a:cs typeface="+mn-lt"/>
              </a:rPr>
              <a:t>Accuracy</a:t>
            </a:r>
            <a:endParaRPr lang="en-US" dirty="0"/>
          </a:p>
          <a:p>
            <a:pPr marL="285750" indent="-285750">
              <a:buFont typeface="Arial"/>
              <a:buChar char="•"/>
              <a:defRPr sz="1500" b="0">
                <a:solidFill>
                  <a:srgbClr val="26303E"/>
                </a:solidFill>
                <a:latin typeface="Aptos"/>
              </a:defRPr>
            </a:pPr>
            <a:r>
              <a:rPr lang="en-US" dirty="0">
                <a:ea typeface="+mn-lt"/>
                <a:cs typeface="+mn-lt"/>
              </a:rPr>
              <a:t>Precision</a:t>
            </a:r>
            <a:endParaRPr lang="en-US" dirty="0"/>
          </a:p>
          <a:p>
            <a:pPr marL="285750" indent="-285750">
              <a:buFont typeface="Arial"/>
              <a:buChar char="•"/>
              <a:defRPr sz="1500" b="0">
                <a:solidFill>
                  <a:srgbClr val="26303E"/>
                </a:solidFill>
                <a:latin typeface="Aptos"/>
              </a:defRPr>
            </a:pPr>
            <a:r>
              <a:rPr lang="en-US" dirty="0">
                <a:ea typeface="+mn-lt"/>
                <a:cs typeface="+mn-lt"/>
              </a:rPr>
              <a:t>F1-Score</a:t>
            </a:r>
            <a:endParaRPr lang="en-US" dirty="0"/>
          </a:p>
          <a:p>
            <a:pPr algn="l">
              <a:defRPr sz="1500" b="0">
                <a:solidFill>
                  <a:srgbClr val="26303E"/>
                </a:solidFill>
                <a:latin typeface="Aptos"/>
              </a:defRPr>
            </a:pPr>
            <a:endParaRPr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233C"/>
                </a:solidFill>
                <a:latin typeface="Aptos"/>
              </a:defRPr>
            </a:pPr>
            <a:r>
              <a:t>7. Best Model — Confusion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21207" y="84124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697584"/>
                </a:solidFill>
                <a:latin typeface="Aptos"/>
              </a:defRPr>
            </a:pPr>
            <a:r>
              <a:t>Random Forest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dirty="0"/>
              <a:t>08 / </a:t>
            </a:r>
            <a:r>
              <a:rPr lang="ar-EG" dirty="0"/>
              <a:t>12</a:t>
            </a:r>
            <a:endParaRPr dirty="0"/>
          </a:p>
        </p:txBody>
      </p:sp>
      <p:pic>
        <p:nvPicPr>
          <p:cNvPr id="7" name="Picture 6" descr="confusion_121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25880"/>
            <a:ext cx="5715000" cy="4526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720840" y="141732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INTERPRETATION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20840" y="1783080"/>
            <a:ext cx="45720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26303E"/>
                </a:solidFill>
                <a:latin typeface="Aptos"/>
              </a:defRPr>
            </a:pPr>
            <a:r>
              <a:t>• True Positive: correctly predicted class 1</a:t>
            </a:r>
            <a:br/>
            <a:r>
              <a:t>• True Negative: correctly predicted class 0</a:t>
            </a:r>
            <a:br/>
            <a:r>
              <a:t>• False Positive: predicted class 1 incorrectly</a:t>
            </a:r>
            <a:br/>
            <a:r>
              <a:t>• False Negative: missed a class-1 case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443484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KEY METRICS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20840" y="4800600"/>
            <a:ext cx="43891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4233C"/>
                </a:solidFill>
                <a:latin typeface="Aptos"/>
              </a:defRPr>
            </a:pPr>
            <a:r>
              <a:t>Recall = 49.32%</a:t>
            </a:r>
            <a:br/>
            <a:r>
              <a:t>F1 Score = 53.13%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9144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233C"/>
                </a:solidFill>
                <a:latin typeface="Aptos"/>
              </a:defRPr>
            </a:pPr>
            <a:r>
              <a:t>8. Business Impact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dirty="0"/>
              <a:t>09 / </a:t>
            </a:r>
            <a:r>
              <a:rPr lang="ar-EG" dirty="0"/>
              <a:t>12</a:t>
            </a:r>
            <a:endParaRPr dirty="0"/>
          </a:p>
        </p:txBody>
      </p:sp>
      <p:sp>
        <p:nvSpPr>
          <p:cNvPr id="12" name="TextBox 11"/>
          <p:cNvSpPr txBox="1"/>
          <p:nvPr/>
        </p:nvSpPr>
        <p:spPr>
          <a:xfrm>
            <a:off x="685800" y="2203704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99816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3995928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4892040"/>
            <a:ext cx="438912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3720" y="56032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4233C"/>
                </a:solidFill>
                <a:latin typeface="Aptos"/>
              </a:defRPr>
            </a:pPr>
            <a:r>
              <a:t>Expected value: less repetitive work, faster prioritization, and a more structured first-pass screening process.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A53DB8B-408A-AC07-E28D-F7E144555EE5}"/>
              </a:ext>
            </a:extLst>
          </p:cNvPr>
          <p:cNvSpPr txBox="1"/>
          <p:nvPr/>
        </p:nvSpPr>
        <p:spPr>
          <a:xfrm>
            <a:off x="908884" y="1068675"/>
            <a:ext cx="8016240" cy="470898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000" b="1" dirty="0"/>
              <a:t>How Can This Help HR?</a:t>
            </a:r>
            <a:endParaRPr lang="en-US" sz="2000" b="1">
              <a:ea typeface="Calibri"/>
              <a:cs typeface="Calibri"/>
            </a:endParaRPr>
          </a:p>
          <a:p>
            <a:r>
              <a:rPr lang="en-US" sz="2000" dirty="0">
                <a:ea typeface="+mn-lt"/>
                <a:cs typeface="+mn-lt"/>
              </a:rPr>
              <a:t>The Smart Recruitment Assistant can help organizations:</a:t>
            </a:r>
            <a:endParaRPr lang="en-US" sz="2000" dirty="0">
              <a:ea typeface="Calibri"/>
              <a:cs typeface="Calibri"/>
            </a:endParaRPr>
          </a:p>
          <a:p>
            <a:r>
              <a:rPr lang="en-US" sz="2000" b="1" dirty="0">
                <a:ea typeface="+mn-lt"/>
                <a:cs typeface="+mn-lt"/>
              </a:rPr>
              <a:t>1.Save Time</a:t>
            </a:r>
            <a:br>
              <a:rPr lang="en-US" sz="2000" b="1" dirty="0">
                <a:ea typeface="+mn-lt"/>
                <a:cs typeface="+mn-lt"/>
              </a:rPr>
            </a:br>
            <a:r>
              <a:rPr lang="en-US" sz="2000" dirty="0">
                <a:ea typeface="+mn-lt"/>
                <a:cs typeface="+mn-lt"/>
              </a:rPr>
              <a:t>Automate part of the initial candidate screening process.</a:t>
            </a:r>
            <a:endParaRPr lang="en-US" sz="2000" dirty="0">
              <a:ea typeface="Calibri"/>
              <a:cs typeface="Calibri"/>
            </a:endParaRPr>
          </a:p>
          <a:p>
            <a:endParaRPr lang="en-US" sz="2000" dirty="0">
              <a:ea typeface="+mn-lt"/>
              <a:cs typeface="+mn-lt"/>
            </a:endParaRPr>
          </a:p>
          <a:p>
            <a:r>
              <a:rPr lang="en-US" sz="2000" b="1" dirty="0">
                <a:ea typeface="+mn-lt"/>
                <a:cs typeface="+mn-lt"/>
              </a:rPr>
              <a:t>2.Reduce Manual Work</a:t>
            </a:r>
            <a:br>
              <a:rPr lang="en-US" sz="2000" b="1" dirty="0">
                <a:ea typeface="+mn-lt"/>
                <a:cs typeface="+mn-lt"/>
              </a:rPr>
            </a:br>
            <a:r>
              <a:rPr lang="en-US" sz="2000" dirty="0">
                <a:ea typeface="+mn-lt"/>
                <a:cs typeface="+mn-lt"/>
              </a:rPr>
              <a:t>HR teams can focus less on candidates who are unlikely to change jobs.</a:t>
            </a:r>
            <a:endParaRPr lang="en-US" sz="2000" dirty="0">
              <a:ea typeface="Calibri"/>
              <a:cs typeface="Calibri"/>
            </a:endParaRPr>
          </a:p>
          <a:p>
            <a:endParaRPr lang="en-US" sz="2000" dirty="0">
              <a:ea typeface="+mn-lt"/>
              <a:cs typeface="+mn-lt"/>
            </a:endParaRPr>
          </a:p>
          <a:p>
            <a:r>
              <a:rPr lang="en-US" sz="2000" b="1" dirty="0">
                <a:ea typeface="+mn-lt"/>
                <a:cs typeface="+mn-lt"/>
              </a:rPr>
              <a:t>3.Prioritize Candidates</a:t>
            </a:r>
            <a:br>
              <a:rPr lang="en-US" sz="2000" b="1" dirty="0">
                <a:ea typeface="+mn-lt"/>
                <a:cs typeface="+mn-lt"/>
              </a:rPr>
            </a:br>
            <a:r>
              <a:rPr lang="en-US" sz="2000" dirty="0">
                <a:ea typeface="+mn-lt"/>
                <a:cs typeface="+mn-lt"/>
              </a:rPr>
              <a:t>Identify candidates with a higher probability of looking for new opportunities.</a:t>
            </a:r>
            <a:endParaRPr lang="en-US" sz="2000" dirty="0">
              <a:ea typeface="Calibri"/>
              <a:cs typeface="Calibri"/>
            </a:endParaRPr>
          </a:p>
          <a:p>
            <a:endParaRPr lang="en-US" sz="2000" dirty="0">
              <a:ea typeface="+mn-lt"/>
              <a:cs typeface="+mn-lt"/>
            </a:endParaRPr>
          </a:p>
          <a:p>
            <a:r>
              <a:rPr lang="en-US" sz="2000" b="1" dirty="0">
                <a:ea typeface="+mn-lt"/>
                <a:cs typeface="+mn-lt"/>
              </a:rPr>
              <a:t>4.Improve Recruitment Efficiency</a:t>
            </a:r>
            <a:endParaRPr lang="en-US" sz="2000" dirty="0">
              <a:ea typeface="Calibri"/>
              <a:cs typeface="Calibri"/>
            </a:endParaRPr>
          </a:p>
          <a:p>
            <a:r>
              <a:rPr lang="en-US" sz="2000" dirty="0">
                <a:ea typeface="+mn-lt"/>
                <a:cs typeface="+mn-lt"/>
              </a:rPr>
              <a:t>Support faster interview scheduling and more focused headhunting.</a:t>
            </a:r>
            <a:endParaRPr lang="en-US" sz="2000" dirty="0">
              <a:ea typeface="Calibri"/>
              <a:cs typeface="Calibri"/>
            </a:endParaRPr>
          </a:p>
          <a:p>
            <a:pPr algn="l"/>
            <a:endParaRPr lang="en-US" sz="2000" dirty="0">
              <a:ea typeface="Calibri"/>
              <a:cs typeface="Calibri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479D5AE-59CD-C157-EBB6-2EEB3C160C55}"/>
              </a:ext>
            </a:extLst>
          </p:cNvPr>
          <p:cNvSpPr txBox="1"/>
          <p:nvPr/>
        </p:nvSpPr>
        <p:spPr>
          <a:xfrm>
            <a:off x="564117" y="5993715"/>
            <a:ext cx="8463280" cy="369332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dirty="0">
                <a:ea typeface="+mn-lt"/>
                <a:cs typeface="+mn-lt"/>
              </a:rPr>
              <a:t>Less manual screening → Better candidate prioritization → Faster recruitment decisions</a:t>
            </a:r>
            <a:endParaRPr lang="en-US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50292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347472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700" b="1">
                <a:solidFill>
                  <a:srgbClr val="14233C"/>
                </a:solidFill>
                <a:latin typeface="Aptos"/>
              </a:defRPr>
            </a:pPr>
            <a:r>
              <a:t>9. Final Prediction System — Demo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dirty="0"/>
              <a:t>10 / </a:t>
            </a:r>
            <a:r>
              <a:rPr lang="ar-EG" dirty="0"/>
              <a:t>12</a:t>
            </a:r>
            <a:endParaRPr dirty="0"/>
          </a:p>
        </p:txBody>
      </p:sp>
      <p:sp>
        <p:nvSpPr>
          <p:cNvPr id="10" name="TextBox 9"/>
          <p:cNvSpPr txBox="1"/>
          <p:nvPr/>
        </p:nvSpPr>
        <p:spPr>
          <a:xfrm>
            <a:off x="7818120" y="141732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A69AF"/>
                </a:solidFill>
                <a:latin typeface="Aptos"/>
              </a:defRPr>
            </a:pPr>
            <a:r>
              <a:t>FINAL TAKEAWAY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828800"/>
            <a:ext cx="34747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4233C"/>
                </a:solidFill>
                <a:latin typeface="Aptos"/>
              </a:defRPr>
            </a:pPr>
            <a:r>
              <a:t>A complete workflow was developed from data preparation to model comparison and selection.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3383280"/>
            <a:ext cx="347472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26303E"/>
                </a:solidFill>
                <a:latin typeface="Aptos"/>
              </a:defRPr>
            </a:pPr>
            <a:r>
              <a:t>Random Forest delivered the strongest F1 Score and was selected as the best-performing model.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640DE4A-7627-DA3A-A7DD-99E4D59D3E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8790" y="3819821"/>
            <a:ext cx="4259610" cy="295828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E98150F-81C4-508B-E2A3-EF992927C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734" y="941507"/>
            <a:ext cx="4199720" cy="2809213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1F25AF-9F7E-F63D-A6A2-E889A15A1C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8B25196-2008-8842-B50D-D0CCB5273E6F}"/>
              </a:ext>
            </a:extLst>
          </p:cNvPr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3C9EBDB-8E18-8223-4CE2-9D342D48CD7A}"/>
              </a:ext>
            </a:extLst>
          </p:cNvPr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lang="ar-EG" dirty="0"/>
              <a:t>11/12</a:t>
            </a:r>
            <a:endParaRPr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7E1805A-283A-E2EF-873E-C44AAF96A653}"/>
              </a:ext>
            </a:extLst>
          </p:cNvPr>
          <p:cNvSpPr txBox="1"/>
          <p:nvPr/>
        </p:nvSpPr>
        <p:spPr>
          <a:xfrm>
            <a:off x="822187" y="498512"/>
            <a:ext cx="2743200" cy="52322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l"/>
            <a:r>
              <a:rPr lang="en-US" sz="2800" b="1" dirty="0">
                <a:ea typeface="+mn-lt"/>
                <a:cs typeface="+mn-lt"/>
              </a:rPr>
              <a:t>10.Conclusion</a:t>
            </a:r>
            <a:endParaRPr lang="en-US" sz="2800" b="1" dirty="0">
              <a:ea typeface="Calibri"/>
              <a:cs typeface="Calibri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490A6BD-8A8A-8610-B45F-F076E71BE6E2}"/>
              </a:ext>
            </a:extLst>
          </p:cNvPr>
          <p:cNvSpPr txBox="1"/>
          <p:nvPr/>
        </p:nvSpPr>
        <p:spPr>
          <a:xfrm>
            <a:off x="1190495" y="1245101"/>
            <a:ext cx="8544560" cy="526297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 sz="2400" dirty="0">
                <a:ea typeface="+mn-lt"/>
                <a:cs typeface="+mn-lt"/>
              </a:rPr>
              <a:t>The project demonstrates how Machine Learning can support HR recruitment by predicting candidate job-change intention.</a:t>
            </a:r>
            <a:endParaRPr lang="en-US" sz="2400" dirty="0">
              <a:ea typeface="Calibri"/>
              <a:cs typeface="Calibri"/>
            </a:endParaRPr>
          </a:p>
          <a:p>
            <a:endParaRPr lang="en-US" sz="2400" dirty="0">
              <a:ea typeface="+mn-lt"/>
              <a:cs typeface="+mn-lt"/>
            </a:endParaRPr>
          </a:p>
          <a:p>
            <a:r>
              <a:rPr lang="en-US" sz="2400" b="1" dirty="0">
                <a:ea typeface="+mn-lt"/>
                <a:cs typeface="+mn-lt"/>
              </a:rPr>
              <a:t>Key Insights:</a:t>
            </a:r>
            <a:endParaRPr lang="en-US" sz="24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City Development Index was one of the most influential predictors.</a:t>
            </a:r>
            <a:endParaRPr lang="en-US" sz="24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Training hours were associated with higher job-change tendency.</a:t>
            </a:r>
            <a:endParaRPr lang="en-US" sz="24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Mid-level candidates showed higher job-change probabilities.</a:t>
            </a:r>
            <a:endParaRPr lang="en-US" sz="24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endParaRPr lang="en-US" sz="2400" dirty="0"/>
          </a:p>
          <a:p>
            <a:r>
              <a:rPr lang="en-US" sz="2400" b="1" dirty="0"/>
              <a:t>Future Work:</a:t>
            </a:r>
            <a:endParaRPr lang="en-US" sz="2400" b="1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Improve Recall through better model tuning</a:t>
            </a:r>
            <a:endParaRPr lang="en-US" sz="2400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Deploy the application to a hosted production environment</a:t>
            </a:r>
            <a:endParaRPr lang="ar-EG" sz="2400" dirty="0">
              <a:ea typeface="+mn-lt"/>
              <a:cs typeface="+mn-lt"/>
            </a:endParaRPr>
          </a:p>
          <a:p>
            <a:pPr marL="285750" indent="-285750">
              <a:buFont typeface="Arial"/>
              <a:buChar char="•"/>
            </a:pPr>
            <a:r>
              <a:rPr lang="en-US" sz="2400" dirty="0">
                <a:ea typeface="+mn-lt"/>
                <a:cs typeface="+mn-lt"/>
              </a:rPr>
              <a:t>Add real-time candidate engagement data</a:t>
            </a:r>
            <a:endParaRPr lang="en-US" sz="2400" dirty="0">
              <a:ea typeface="Calibri"/>
              <a:cs typeface="Calibri"/>
            </a:endParaRPr>
          </a:p>
          <a:p>
            <a:pPr algn="l"/>
            <a:endParaRPr lang="en-US" sz="2400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024536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F931F-8818-D711-8224-F2BA96CC8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DD9B5A4A-F9F4-1D13-E40C-A13F3791E142}"/>
              </a:ext>
            </a:extLst>
          </p:cNvPr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2A69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4E521-17D3-5B9E-E704-2A79BB8F8448}"/>
              </a:ext>
            </a:extLst>
          </p:cNvPr>
          <p:cNvSpPr txBox="1"/>
          <p:nvPr/>
        </p:nvSpPr>
        <p:spPr>
          <a:xfrm>
            <a:off x="10881360" y="6355080"/>
            <a:ext cx="731520" cy="22860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algn="r">
              <a:defRPr sz="900" b="0">
                <a:solidFill>
                  <a:srgbClr val="697584"/>
                </a:solidFill>
                <a:latin typeface="Aptos"/>
              </a:defRPr>
            </a:pPr>
            <a:r>
              <a:rPr lang="ar-EG" dirty="0"/>
              <a:t>12/12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55B7980-4C56-4E51-6195-558EAB64EB92}"/>
              </a:ext>
            </a:extLst>
          </p:cNvPr>
          <p:cNvSpPr txBox="1"/>
          <p:nvPr/>
        </p:nvSpPr>
        <p:spPr>
          <a:xfrm>
            <a:off x="3208695" y="2968882"/>
            <a:ext cx="5770880" cy="923330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algn="ctr"/>
            <a:r>
              <a:rPr lang="en-US" sz="5400" dirty="0">
                <a:highlight>
                  <a:srgbClr val="8AAED4"/>
                </a:highlight>
                <a:ea typeface="Calibri"/>
                <a:cs typeface="Calibri"/>
              </a:rPr>
              <a:t>Thank you</a:t>
            </a:r>
            <a:endParaRPr lang="en-US">
              <a:highlight>
                <a:srgbClr val="8AAED4"/>
              </a:highlight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4221057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1104</Words>
  <Application>Microsoft Office PowerPoint</Application>
  <PresentationFormat>Widescreen</PresentationFormat>
  <Paragraphs>181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Kerolos Nagih Magdy Aziz</cp:lastModifiedBy>
  <cp:revision>472</cp:revision>
  <dcterms:created xsi:type="dcterms:W3CDTF">2013-01-27T09:14:16Z</dcterms:created>
  <dcterms:modified xsi:type="dcterms:W3CDTF">2026-09-09T12:08:39Z</dcterms:modified>
  <cp:category/>
</cp:coreProperties>
</file>